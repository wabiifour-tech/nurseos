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Introduce NurseOS as a new category — an operating system for nursing, not just another app
• Emphasize it was built by a nurse who lived the gaps in clinical workflows
• Set the tone: this is about empowering a profession, not replacing it
• The tagline "Nursing is Beyond the Bedside" is the thesis for the entire deck
• Healthcare Innovation pill signals this is a technology-forward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NurseOS is not just software — it's a paradigm shift in how nursing care is delivered
• Built from lived nursing experience, not top-down tech mandates
• The integration of five pillars into one system is the core differentiator
• Nurse-First Design means every feature traces back to real clinical workflow
• Emphasize "built by a nurse" — authenticity is the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real WHO and ICN statistics — cite sources if asked
• The crisis is systemic and global, not a local staffing issue
• 6M shortage means entire health systems are at risk, especially in low-resource settings
• 91% capacity sounds high but means chronic understaffing is the norm
• Technology must be part of the solution — we can't train our way out of this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Key differentiator: built BY a nurse, not FOR nurses by a tech company — this changes everything
• Three pillars map to the five modules: AI → NurseAI, Connected → CareGrid, Growth → NurseID + NurseAcademy
• "Not replacing nurses, but empowering them" — critical framing against automation fears
• Every feature traces back to real clinical workflow pain points
• The network image on the left symbolizes the connected care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Five modules working together as one unified platform
 • Not fragmented point solutions — integrated system design
 • NurseAI is the hero module, powered by clinical decision support
 • Each module connects to the others for seamless workflow
 • Emphasize "one platform" over individual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Benefits flow to all stakeholders — nurses, patients, and facilities
 • Not just about efficiency — it's about transforming what nursing means
 • AI-assisted workflows reduce burnout, not add complexity
 • Patient safety improved through early warning and decision support
 • Facilities gain predictive analytics and automated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vision is bigger than the current product — NurseOS is infrastructure
 • Position as long-term platform play, not just a tool
 • AI-first means AI is foundational, not an add-on
 • Global nurse network connects practitioners worldwide
 • Coming soon signals momentum and roadmap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Wabi's story IS the product's story — every feature traces back to real clinical experience
 • Emphasize authenticity: built by a nurse who lived the problem, not by a tech company
 • The role badges show the unique combination of clinical + tech expertise
 • The quote is the brand's north star — anchor the narrative around it
 • This authenticity is NurseOS's key differentiator and the brand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Real architecture, real product, real traction — not just a pitch deck
 • The 42+ database models show this is a deeply built system, not a prototype
 • Emphasize the docuseries selection as external validation
 • Nigeria-first strategy proves the model works in resource-constrained environments
 • Single platform vs. fragmented solutions is a key differentiator for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End with the message — this is a movement, not just a product pitch
 • The tagline "Nursing is Beyond the Bedside" IS the brand — make it land
 • Invite people to connect and join the journey
 • Leave them with emotion, not just information
 • The glow in center creates a cinematic, memorable closing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tmp/h2p-fit-1781435410301-b81lxb.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3711424" y="-12802"/>
            <a:ext cx="1721153" cy="264919"/>
          </a:xfrm>
          <a:prstGeom prst="roundRect">
            <a:avLst>
              <a:gd name="adj" fmla="val 35918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5" name="Text 1"/>
          <p:cNvSpPr/>
          <p:nvPr/>
        </p:nvSpPr>
        <p:spPr>
          <a:xfrm>
            <a:off x="3734284" y="0"/>
            <a:ext cx="1675433" cy="239316"/>
          </a:xfrm>
          <a:prstGeom prst="rect">
            <a:avLst/>
          </a:prstGeom>
          <a:noFill/>
          <a:ln/>
        </p:spPr>
        <p:txBody>
          <a:bodyPr wrap="none" lIns="114300" tIns="42863" rIns="114300" bIns="42863" rtlCol="0" anchor="ctr"/>
          <a:lstStyle/>
          <a:p>
            <a:pPr algn="ctr" indent="0" marL="0">
              <a:lnSpc>
                <a:spcPts val="1097"/>
              </a:lnSpc>
              <a:buNone/>
            </a:pPr>
            <a:r>
              <a:rPr lang="en-US" sz="800" spc="84" kern="0" dirty="0">
                <a:solidFill>
                  <a:srgbClr val="00C9A7"/>
                </a:solidFill>
                <a:latin typeface="Carlito" pitchFamily="34" charset="0"/>
                <a:ea typeface="Carlito" pitchFamily="34" charset="-122"/>
                <a:cs typeface="Carlito" pitchFamily="34" charset="-120"/>
              </a:rPr>
              <a:t>HEALTHCARE INNOVATION</a:t>
            </a:r>
            <a:endParaRPr lang="en-US" sz="800" dirty="0"/>
          </a:p>
        </p:txBody>
      </p:sp>
      <p:sp>
        <p:nvSpPr>
          <p:cNvPr id="6" name="Text 2"/>
          <p:cNvSpPr/>
          <p:nvPr/>
        </p:nvSpPr>
        <p:spPr>
          <a:xfrm>
            <a:off x="274320" y="467916"/>
            <a:ext cx="8595360" cy="712817"/>
          </a:xfrm>
          <a:prstGeom prst="rect">
            <a:avLst/>
          </a:prstGeom>
          <a:noFill/>
          <a:ln/>
        </p:spPr>
        <p:txBody>
          <a:bodyPr wrap="none" lIns="0" tIns="0" rIns="0" bIns="0" rtlCol="0" anchor="t"/>
          <a:lstStyle/>
          <a:p>
            <a:pPr algn="ctr" indent="0" marL="0">
              <a:lnSpc>
                <a:spcPts val="5198"/>
              </a:lnSpc>
              <a:buNone/>
            </a:pPr>
            <a:r>
              <a:rPr lang="en-US" sz="4950" b="1" spc="-56" kern="0" dirty="0">
                <a:solidFill>
                  <a:srgbClr val="FFFFFF"/>
                </a:solidFill>
                <a:latin typeface="Tinos" pitchFamily="34" charset="0"/>
                <a:ea typeface="Tinos" pitchFamily="34" charset="-122"/>
                <a:cs typeface="Tinos" pitchFamily="34" charset="-120"/>
              </a:rPr>
              <a:t>NurseOS</a:t>
            </a:r>
            <a:endParaRPr lang="en-US" sz="4950" dirty="0"/>
          </a:p>
        </p:txBody>
      </p:sp>
      <p:sp>
        <p:nvSpPr>
          <p:cNvPr id="7" name="Text 3"/>
          <p:cNvSpPr/>
          <p:nvPr/>
        </p:nvSpPr>
        <p:spPr>
          <a:xfrm>
            <a:off x="2722992" y="1242231"/>
            <a:ext cx="3698016" cy="254603"/>
          </a:xfrm>
          <a:prstGeom prst="rect">
            <a:avLst/>
          </a:prstGeom>
          <a:noFill/>
          <a:ln/>
        </p:spPr>
        <p:txBody>
          <a:bodyPr wrap="square" lIns="0" tIns="0" rIns="0" bIns="0" rtlCol="0" anchor="t"/>
          <a:lstStyle/>
          <a:p>
            <a:pPr algn="ctr" indent="0" marL="0">
              <a:lnSpc>
                <a:spcPts val="1856"/>
              </a:lnSpc>
              <a:buNone/>
            </a:pPr>
            <a:r>
              <a:rPr lang="en-US" sz="1238" spc="28" kern="0" dirty="0">
                <a:solidFill>
                  <a:srgbClr val="FFFFFF">
                    <a:alpha val="85000"/>
                  </a:srgbClr>
                </a:solidFill>
                <a:latin typeface="Carlito" pitchFamily="34" charset="0"/>
                <a:ea typeface="Carlito" pitchFamily="34" charset="-122"/>
                <a:cs typeface="Carlito" pitchFamily="34" charset="-120"/>
              </a:rPr>
              <a:t>The Operating System for Global Nursing Care</a:t>
            </a:r>
            <a:endParaRPr lang="en-US" sz="1238" dirty="0"/>
          </a:p>
        </p:txBody>
      </p:sp>
      <p:sp>
        <p:nvSpPr>
          <p:cNvPr id="8" name="Text 4"/>
          <p:cNvSpPr/>
          <p:nvPr/>
        </p:nvSpPr>
        <p:spPr>
          <a:xfrm>
            <a:off x="4343400" y="1706575"/>
            <a:ext cx="457200" cy="21431"/>
          </a:xfrm>
          <a:prstGeom prst="roundRect">
            <a:avLst>
              <a:gd name="adj" fmla="val 88890"/>
            </a:avLst>
          </a:prstGeom>
          <a:solidFill>
            <a:srgbClr val="00C9A7"/>
          </a:solidFill>
          <a:ln/>
        </p:spPr>
        <p:txBody>
          <a:bodyPr wrap="square" rtlCol="0" anchor="ctr"/>
          <a:lstStyle/>
          <a:p>
            <a:pPr indent="0" marL="0">
              <a:buNone/>
            </a:pPr>
            <a:endParaRPr lang="en-US" dirty="0"/>
          </a:p>
        </p:txBody>
      </p:sp>
      <p:sp>
        <p:nvSpPr>
          <p:cNvPr id="9" name="Text 5"/>
          <p:cNvSpPr/>
          <p:nvPr/>
        </p:nvSpPr>
        <p:spPr>
          <a:xfrm>
            <a:off x="3495482" y="1956606"/>
            <a:ext cx="2153037" cy="231458"/>
          </a:xfrm>
          <a:prstGeom prst="rect">
            <a:avLst/>
          </a:prstGeom>
          <a:noFill/>
          <a:ln/>
        </p:spPr>
        <p:txBody>
          <a:bodyPr wrap="square" lIns="0" tIns="0" rIns="0" bIns="0" rtlCol="0" anchor="t"/>
          <a:lstStyle/>
          <a:p>
            <a:pPr algn="ctr" indent="0" marL="0">
              <a:lnSpc>
                <a:spcPts val="1688"/>
              </a:lnSpc>
              <a:buNone/>
            </a:pPr>
            <a:r>
              <a:rPr lang="en-US" sz="1125" i="1" dirty="0">
                <a:solidFill>
                  <a:srgbClr val="FFFFFF">
                    <a:alpha val="70000"/>
                  </a:srgbClr>
                </a:solidFill>
                <a:latin typeface="Carlito" pitchFamily="34" charset="0"/>
                <a:ea typeface="Carlito" pitchFamily="34" charset="-122"/>
                <a:cs typeface="Carlito" pitchFamily="34" charset="-120"/>
              </a:rPr>
              <a:t>Nursing is Beyond the Bedside.</a:t>
            </a:r>
            <a:endParaRPr lang="en-US" sz="1125" dirty="0"/>
          </a:p>
        </p:txBody>
      </p:sp>
      <p:sp>
        <p:nvSpPr>
          <p:cNvPr id="10" name="Text 6"/>
          <p:cNvSpPr/>
          <p:nvPr/>
        </p:nvSpPr>
        <p:spPr>
          <a:xfrm>
            <a:off x="2825911" y="4639866"/>
            <a:ext cx="6318089" cy="173593"/>
          </a:xfrm>
          <a:prstGeom prst="rect">
            <a:avLst/>
          </a:prstGeom>
          <a:noFill/>
          <a:ln/>
        </p:spPr>
        <p:txBody>
          <a:bodyPr wrap="square" lIns="0" tIns="0" rIns="0" bIns="0" rtlCol="0" anchor="t"/>
          <a:lstStyle/>
          <a:p>
            <a:pPr algn="l" indent="0" marL="0">
              <a:lnSpc>
                <a:spcPts val="1266"/>
              </a:lnSpc>
              <a:buNone/>
            </a:pPr>
            <a:r>
              <a:rPr lang="en-US" sz="844" spc="17" kern="0" dirty="0">
                <a:solidFill>
                  <a:srgbClr val="FFFFFF">
                    <a:alpha val="55000"/>
                  </a:srgbClr>
                </a:solidFill>
                <a:latin typeface="Carlito" pitchFamily="34" charset="0"/>
                <a:ea typeface="Carlito" pitchFamily="34" charset="-122"/>
                <a:cs typeface="Carlito" pitchFamily="34" charset="-120"/>
              </a:rPr>
              <a:t>Built by a Nurse</a:t>
            </a:r>
            <a:pPr algn="l" indent="0" marL="0">
              <a:lnSpc>
                <a:spcPts val="1266"/>
              </a:lnSpc>
              <a:buNone/>
            </a:pPr>
            <a:r>
              <a:rPr lang="en-US" sz="844" spc="17" kern="0" dirty="0">
                <a:solidFill>
                  <a:srgbClr val="00C9A7">
                    <a:alpha val="55000"/>
                  </a:srgbClr>
                </a:solidFill>
                <a:latin typeface="Carlito" pitchFamily="34" charset="0"/>
                <a:ea typeface="Carlito" pitchFamily="34" charset="-122"/>
                <a:cs typeface="Carlito" pitchFamily="34" charset="-120"/>
              </a:rPr>
              <a:t>●</a:t>
            </a:r>
            <a:pPr algn="l" indent="0" marL="0">
              <a:lnSpc>
                <a:spcPts val="1266"/>
              </a:lnSpc>
              <a:buNone/>
            </a:pPr>
            <a:r>
              <a:rPr lang="en-US" sz="844" spc="17" kern="0" dirty="0">
                <a:solidFill>
                  <a:srgbClr val="FFFFFF">
                    <a:alpha val="55000"/>
                  </a:srgbClr>
                </a:solidFill>
                <a:latin typeface="Carlito" pitchFamily="34" charset="0"/>
                <a:ea typeface="Carlito" pitchFamily="34" charset="-122"/>
                <a:cs typeface="Carlito" pitchFamily="34" charset="-120"/>
              </a:rPr>
              <a:t>Designed for Healthcare</a:t>
            </a:r>
            <a:pPr algn="l" indent="0" marL="0">
              <a:lnSpc>
                <a:spcPts val="1266"/>
              </a:lnSpc>
              <a:buNone/>
            </a:pPr>
            <a:r>
              <a:rPr lang="en-US" sz="844" spc="17" kern="0" dirty="0">
                <a:solidFill>
                  <a:srgbClr val="00C9A7">
                    <a:alpha val="55000"/>
                  </a:srgbClr>
                </a:solidFill>
                <a:latin typeface="Carlito" pitchFamily="34" charset="0"/>
                <a:ea typeface="Carlito" pitchFamily="34" charset="-122"/>
                <a:cs typeface="Carlito" pitchFamily="34" charset="-120"/>
              </a:rPr>
              <a:t>●</a:t>
            </a:r>
            <a:pPr algn="l" indent="0" marL="0">
              <a:lnSpc>
                <a:spcPts val="1266"/>
              </a:lnSpc>
              <a:buNone/>
            </a:pPr>
            <a:r>
              <a:rPr lang="en-US" sz="844" spc="17" kern="0" dirty="0">
                <a:solidFill>
                  <a:srgbClr val="FFFFFF">
                    <a:alpha val="55000"/>
                  </a:srgbClr>
                </a:solidFill>
                <a:latin typeface="Carlito" pitchFamily="34" charset="0"/>
                <a:ea typeface="Carlito" pitchFamily="34" charset="-122"/>
                <a:cs typeface="Carlito" pitchFamily="34" charset="-120"/>
              </a:rPr>
              <a:t>Driven by Innovation</a:t>
            </a:r>
            <a:endParaRPr lang="en-US" sz="8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91490" y="815315"/>
            <a:ext cx="1231248" cy="264919"/>
          </a:xfrm>
          <a:prstGeom prst="roundRect">
            <a:avLst>
              <a:gd name="adj" fmla="val 35918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3" name="Text 1"/>
          <p:cNvSpPr/>
          <p:nvPr/>
        </p:nvSpPr>
        <p:spPr>
          <a:xfrm>
            <a:off x="514350" y="828117"/>
            <a:ext cx="1185528" cy="239316"/>
          </a:xfrm>
          <a:prstGeom prst="rect">
            <a:avLst/>
          </a:prstGeom>
          <a:noFill/>
          <a:ln/>
        </p:spPr>
        <p:txBody>
          <a:bodyPr wrap="none" lIns="114300" tIns="42863" rIns="114300" bIns="42863" rtlCol="0" anchor="ctr"/>
          <a:lstStyle/>
          <a:p>
            <a:pPr algn="ctr" indent="0" marL="0">
              <a:lnSpc>
                <a:spcPts val="1097"/>
              </a:lnSpc>
              <a:buNone/>
            </a:pPr>
            <a:r>
              <a:rPr lang="en-US" sz="800" spc="84" kern="0" dirty="0">
                <a:solidFill>
                  <a:srgbClr val="00C9A7"/>
                </a:solidFill>
                <a:latin typeface="Carlito" pitchFamily="34" charset="0"/>
                <a:ea typeface="Carlito" pitchFamily="34" charset="-122"/>
                <a:cs typeface="Carlito" pitchFamily="34" charset="-120"/>
              </a:rPr>
              <a:t>ABOUT NURSEOS</a:t>
            </a:r>
            <a:endParaRPr lang="en-US" sz="800" dirty="0"/>
          </a:p>
        </p:txBody>
      </p:sp>
      <p:sp>
        <p:nvSpPr>
          <p:cNvPr id="4" name="Text 2"/>
          <p:cNvSpPr/>
          <p:nvPr/>
        </p:nvSpPr>
        <p:spPr>
          <a:xfrm>
            <a:off x="514350" y="1238883"/>
            <a:ext cx="4120493" cy="703534"/>
          </a:xfrm>
          <a:prstGeom prst="rect">
            <a:avLst/>
          </a:prstGeom>
          <a:noFill/>
          <a:ln/>
        </p:spPr>
        <p:txBody>
          <a:bodyPr wrap="square" lIns="0" tIns="0" rIns="0" bIns="0" rtlCol="0" anchor="t"/>
          <a:lstStyle/>
          <a:p>
            <a:pPr algn="l" indent="0" marL="0">
              <a:lnSpc>
                <a:spcPts val="2565"/>
              </a:lnSpc>
              <a:buNone/>
            </a:pPr>
            <a:r>
              <a:rPr lang="en-US" sz="2138" b="1" dirty="0">
                <a:solidFill>
                  <a:srgbClr val="FFFFFF"/>
                </a:solidFill>
                <a:latin typeface="Tinos" pitchFamily="34" charset="0"/>
                <a:ea typeface="Tinos" pitchFamily="34" charset="-122"/>
                <a:cs typeface="Tinos" pitchFamily="34" charset="-120"/>
              </a:rPr>
              <a:t>A New Operating System for Nursing Care</a:t>
            </a:r>
            <a:endParaRPr lang="en-US" sz="2138" dirty="0"/>
          </a:p>
        </p:txBody>
      </p:sp>
      <p:sp>
        <p:nvSpPr>
          <p:cNvPr id="5" name="Text 3"/>
          <p:cNvSpPr/>
          <p:nvPr/>
        </p:nvSpPr>
        <p:spPr>
          <a:xfrm>
            <a:off x="514350" y="2061753"/>
            <a:ext cx="4120493" cy="1114492"/>
          </a:xfrm>
          <a:prstGeom prst="rect">
            <a:avLst/>
          </a:prstGeom>
          <a:noFill/>
          <a:ln/>
        </p:spPr>
        <p:txBody>
          <a:bodyPr wrap="square" lIns="0" tIns="0" rIns="0" bIns="0" rtlCol="0" anchor="t"/>
          <a:lstStyle/>
          <a:p>
            <a:pPr algn="l" indent="0" marL="0">
              <a:lnSpc>
                <a:spcPts val="1626"/>
              </a:lnSpc>
              <a:buNone/>
            </a:pPr>
            <a:r>
              <a:rPr lang="en-US" sz="956" dirty="0">
                <a:solidFill>
                  <a:srgbClr val="FFFFFF">
                    <a:alpha val="75000"/>
                  </a:srgbClr>
                </a:solidFill>
                <a:latin typeface="Carlito" pitchFamily="34" charset="0"/>
                <a:ea typeface="Carlito" pitchFamily="34" charset="-122"/>
                <a:cs typeface="Carlito" pitchFamily="34" charset="-120"/>
              </a:rPr>
              <a:t>NurseOS is a comprehensive healthcare technology platform built by a nurse who understood the gaps in clinical workflows. It integrates AI-powered clinical decision support, care coordination, nurse credentialing, analytics, and education into one unified system — designed specifically for the realities of nursing practice.</a:t>
            </a:r>
            <a:endParaRPr lang="en-US" sz="956" dirty="0"/>
          </a:p>
        </p:txBody>
      </p:sp>
      <p:sp>
        <p:nvSpPr>
          <p:cNvPr id="6" name="Text 4"/>
          <p:cNvSpPr/>
          <p:nvPr/>
        </p:nvSpPr>
        <p:spPr>
          <a:xfrm>
            <a:off x="514350" y="3379440"/>
            <a:ext cx="864729" cy="235744"/>
          </a:xfrm>
          <a:prstGeom prst="rect">
            <a:avLst/>
          </a:prstGeom>
          <a:noFill/>
          <a:ln/>
        </p:spPr>
        <p:txBody>
          <a:bodyPr wrap="none" lIns="0" tIns="0" rIns="0" bIns="0" rtlCol="0" anchor="ctr"/>
          <a:lstStyle/>
          <a:p>
            <a:pPr algn="ctr" indent="0" marL="0">
              <a:buNone/>
            </a:pPr>
            <a:r>
              <a:rPr lang="en-US" sz="1547" dirty="0">
                <a:solidFill>
                  <a:srgbClr val="00C9A7"/>
                </a:solidFill>
                <a:latin typeface="Segoe UI Symbol" pitchFamily="34" charset="0"/>
                <a:ea typeface="Segoe UI Symbol" pitchFamily="34" charset="-122"/>
                <a:cs typeface="Segoe UI Symbol" pitchFamily="34" charset="-120"/>
              </a:rPr>
              <a:t>✓</a:t>
            </a:r>
            <a:endParaRPr lang="en-US" sz="1547" dirty="0"/>
          </a:p>
        </p:txBody>
      </p:sp>
      <p:sp>
        <p:nvSpPr>
          <p:cNvPr id="7" name="Text 5"/>
          <p:cNvSpPr/>
          <p:nvPr/>
        </p:nvSpPr>
        <p:spPr>
          <a:xfrm>
            <a:off x="1464804" y="3406229"/>
            <a:ext cx="3170039"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AI-Powered Clinical Support</a:t>
            </a:r>
            <a:endParaRPr lang="en-US" sz="956" dirty="0"/>
          </a:p>
        </p:txBody>
      </p:sp>
      <p:sp>
        <p:nvSpPr>
          <p:cNvPr id="8" name="Text 6"/>
          <p:cNvSpPr/>
          <p:nvPr/>
        </p:nvSpPr>
        <p:spPr>
          <a:xfrm>
            <a:off x="514350" y="3729484"/>
            <a:ext cx="864729" cy="235744"/>
          </a:xfrm>
          <a:prstGeom prst="rect">
            <a:avLst/>
          </a:prstGeom>
          <a:noFill/>
          <a:ln/>
        </p:spPr>
        <p:txBody>
          <a:bodyPr wrap="none" lIns="0" tIns="0" rIns="0" bIns="0" rtlCol="0" anchor="ctr"/>
          <a:lstStyle/>
          <a:p>
            <a:pPr algn="ctr" indent="0" marL="0">
              <a:buNone/>
            </a:pPr>
            <a:r>
              <a:rPr lang="en-US" sz="1547" dirty="0">
                <a:solidFill>
                  <a:srgbClr val="00C9A7"/>
                </a:solidFill>
                <a:latin typeface="Segoe UI Symbol" pitchFamily="34" charset="0"/>
                <a:ea typeface="Segoe UI Symbol" pitchFamily="34" charset="-122"/>
                <a:cs typeface="Segoe UI Symbol" pitchFamily="34" charset="-120"/>
              </a:rPr>
              <a:t>✓</a:t>
            </a:r>
            <a:endParaRPr lang="en-US" sz="1547" dirty="0"/>
          </a:p>
        </p:txBody>
      </p:sp>
      <p:sp>
        <p:nvSpPr>
          <p:cNvPr id="9" name="Text 7"/>
          <p:cNvSpPr/>
          <p:nvPr/>
        </p:nvSpPr>
        <p:spPr>
          <a:xfrm>
            <a:off x="1464804" y="3756273"/>
            <a:ext cx="3170039"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Unified Care Coordination</a:t>
            </a:r>
            <a:endParaRPr lang="en-US" sz="956" dirty="0"/>
          </a:p>
        </p:txBody>
      </p:sp>
      <p:sp>
        <p:nvSpPr>
          <p:cNvPr id="10" name="Text 8"/>
          <p:cNvSpPr/>
          <p:nvPr/>
        </p:nvSpPr>
        <p:spPr>
          <a:xfrm>
            <a:off x="514350" y="4079528"/>
            <a:ext cx="864729" cy="235744"/>
          </a:xfrm>
          <a:prstGeom prst="rect">
            <a:avLst/>
          </a:prstGeom>
          <a:noFill/>
          <a:ln/>
        </p:spPr>
        <p:txBody>
          <a:bodyPr wrap="none" lIns="0" tIns="0" rIns="0" bIns="0" rtlCol="0" anchor="ctr"/>
          <a:lstStyle/>
          <a:p>
            <a:pPr algn="ctr" indent="0" marL="0">
              <a:buNone/>
            </a:pPr>
            <a:r>
              <a:rPr lang="en-US" sz="1547" dirty="0">
                <a:solidFill>
                  <a:srgbClr val="00C9A7"/>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1464804" y="4106317"/>
            <a:ext cx="3170039"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Nurse-First Design Philosophy</a:t>
            </a:r>
            <a:endParaRPr lang="en-US" sz="956" dirty="0"/>
          </a:p>
        </p:txBody>
      </p:sp>
      <p:sp>
        <p:nvSpPr>
          <p:cNvPr id="12" name="Text 10"/>
          <p:cNvSpPr/>
          <p:nvPr/>
        </p:nvSpPr>
        <p:spPr>
          <a:xfrm>
            <a:off x="4981315" y="717947"/>
            <a:ext cx="3644652" cy="3707606"/>
          </a:xfrm>
          <a:prstGeom prst="roundRect">
            <a:avLst>
              <a:gd name="adj" fmla="val 4181"/>
            </a:avLst>
          </a:prstGeom>
          <a:noFill/>
          <a:ln w="7144">
            <a:solidFill>
              <a:srgbClr val="00C9A7"/>
            </a:solidFill>
            <a:prstDash val="solid"/>
          </a:ln>
          <a:effectLst>
            <a:outerShdw sx="100000" sy="100000" kx="0" ky="0" algn="bl" rotWithShape="0" blurRad="304800" dist="76200" dir="5400000">
              <a:srgbClr val="000000">
                <a:alpha val="30000"/>
              </a:srgbClr>
            </a:outerShdw>
          </a:effectLst>
        </p:spPr>
        <p:txBody>
          <a:bodyPr wrap="square" rtlCol="0" anchor="ctr"/>
          <a:lstStyle/>
          <a:p>
            <a:pPr indent="0" marL="0">
              <a:buNone/>
            </a:pPr>
            <a:endParaRPr lang="en-US" dirty="0"/>
          </a:p>
        </p:txBody>
      </p:sp>
      <p:pic>
        <p:nvPicPr>
          <p:cNvPr id="13" name="Image 0" descr="/tmp/h2p-fit-1781435410057-5bfi6o.png">    </p:cNvPr>
          <p:cNvPicPr>
            <a:picLocks noChangeAspect="1"/>
          </p:cNvPicPr>
          <p:nvPr/>
        </p:nvPicPr>
        <p:blipFill>
          <a:blip r:embed="rId1"/>
          <a:stretch>
            <a:fillRect/>
          </a:stretch>
        </p:blipFill>
        <p:spPr>
          <a:xfrm>
            <a:off x="4984886" y="721519"/>
            <a:ext cx="3637508" cy="37004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286500" y="-1071562"/>
            <a:ext cx="3571875" cy="3571875"/>
          </a:xfrm>
          <a:prstGeom prst="ellipse">
            <a:avLst/>
          </a:prstGeom>
          <a:solidFill>
            <a:srgbClr val="FFFFFF">
              <a:alpha val="0"/>
            </a:srgbClr>
          </a:solidFill>
          <a:ln/>
        </p:spPr>
        <p:txBody>
          <a:bodyPr wrap="square" rtlCol="0" anchor="ctr"/>
          <a:lstStyle/>
          <a:p>
            <a:pPr indent="0" marL="0">
              <a:buNone/>
            </a:pPr>
            <a:endParaRPr lang="en-US" dirty="0"/>
          </a:p>
        </p:txBody>
      </p:sp>
      <p:sp>
        <p:nvSpPr>
          <p:cNvPr id="3" name="Text 1"/>
          <p:cNvSpPr/>
          <p:nvPr/>
        </p:nvSpPr>
        <p:spPr>
          <a:xfrm>
            <a:off x="514350" y="457200"/>
            <a:ext cx="8521065" cy="354902"/>
          </a:xfrm>
          <a:prstGeom prst="rect">
            <a:avLst/>
          </a:prstGeom>
          <a:noFill/>
          <a:ln/>
        </p:spPr>
        <p:txBody>
          <a:bodyPr wrap="none" lIns="0" tIns="0" rIns="0" bIns="0" rtlCol="0" anchor="t"/>
          <a:lstStyle/>
          <a:p>
            <a:pPr algn="l" indent="0" marL="0">
              <a:lnSpc>
                <a:spcPts val="2588"/>
              </a:lnSpc>
              <a:buNone/>
            </a:pPr>
            <a:r>
              <a:rPr lang="en-US" sz="2250" b="1" dirty="0">
                <a:solidFill>
                  <a:srgbClr val="FFFFFF"/>
                </a:solidFill>
                <a:latin typeface="Tinos" pitchFamily="34" charset="0"/>
                <a:ea typeface="Tinos" pitchFamily="34" charset="-122"/>
                <a:cs typeface="Tinos" pitchFamily="34" charset="-120"/>
              </a:rPr>
              <a:t>The Challenge We Face</a:t>
            </a:r>
            <a:endParaRPr lang="en-US" sz="2250" dirty="0"/>
          </a:p>
        </p:txBody>
      </p:sp>
      <p:sp>
        <p:nvSpPr>
          <p:cNvPr id="4" name="Text 2"/>
          <p:cNvSpPr/>
          <p:nvPr/>
        </p:nvSpPr>
        <p:spPr>
          <a:xfrm>
            <a:off x="514350" y="857250"/>
            <a:ext cx="8629650" cy="208312"/>
          </a:xfrm>
          <a:prstGeom prst="rect">
            <a:avLst/>
          </a:prstGeom>
          <a:noFill/>
          <a:ln/>
        </p:spPr>
        <p:txBody>
          <a:bodyPr wrap="square" lIns="0" tIns="0" rIns="0" bIns="0" rtlCol="0" anchor="t"/>
          <a:lstStyle/>
          <a:p>
            <a:pPr algn="l" indent="0" marL="0">
              <a:lnSpc>
                <a:spcPts val="1519"/>
              </a:lnSpc>
              <a:buNone/>
            </a:pPr>
            <a:r>
              <a:rPr lang="en-US" sz="1013" dirty="0">
                <a:solidFill>
                  <a:srgbClr val="FFFFFF">
                    <a:alpha val="60000"/>
                  </a:srgbClr>
                </a:solidFill>
                <a:latin typeface="Carlito" pitchFamily="34" charset="0"/>
                <a:ea typeface="Carlito" pitchFamily="34" charset="-122"/>
                <a:cs typeface="Carlito" pitchFamily="34" charset="-120"/>
              </a:rPr>
              <a:t>A global nursing crisis demands innovation.</a:t>
            </a:r>
            <a:endParaRPr lang="en-US" sz="1013" dirty="0"/>
          </a:p>
        </p:txBody>
      </p:sp>
      <p:sp>
        <p:nvSpPr>
          <p:cNvPr id="5" name="Text 3"/>
          <p:cNvSpPr/>
          <p:nvPr/>
        </p:nvSpPr>
        <p:spPr>
          <a:xfrm>
            <a:off x="517922" y="1339453"/>
            <a:ext cx="3964781" cy="1582341"/>
          </a:xfrm>
          <a:prstGeom prst="roundRect">
            <a:avLst>
              <a:gd name="adj" fmla="val 722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778669" y="1659136"/>
            <a:ext cx="3443288" cy="486918"/>
          </a:xfrm>
          <a:prstGeom prst="rect">
            <a:avLst/>
          </a:prstGeom>
          <a:noFill/>
          <a:ln/>
        </p:spPr>
        <p:txBody>
          <a:bodyPr wrap="none" lIns="0" tIns="0" rIns="0" bIns="0" rtlCol="0" anchor="t">
            <a:normAutofit/>
          </a:bodyPr>
          <a:lstStyle/>
          <a:p>
            <a:pPr algn="l" indent="0" marL="0">
              <a:lnSpc>
                <a:spcPts val="3600"/>
              </a:lnSpc>
              <a:buNone/>
            </a:pPr>
            <a:r>
              <a:rPr lang="en-US" sz="3600" b="1" dirty="0">
                <a:solidFill>
                  <a:srgbClr val="00C9A7"/>
                </a:solidFill>
                <a:latin typeface="Liberation Sans Narrow" pitchFamily="34" charset="0"/>
                <a:ea typeface="Liberation Sans Narrow" pitchFamily="34" charset="-122"/>
                <a:cs typeface="Liberation Sans Narrow" pitchFamily="34" charset="-120"/>
              </a:rPr>
              <a:t>6M</a:t>
            </a:r>
            <a:endParaRPr lang="en-US" sz="3600" dirty="0"/>
          </a:p>
        </p:txBody>
      </p:sp>
      <p:sp>
        <p:nvSpPr>
          <p:cNvPr id="7" name="Text 5"/>
          <p:cNvSpPr/>
          <p:nvPr/>
        </p:nvSpPr>
        <p:spPr>
          <a:xfrm>
            <a:off x="778669" y="2173486"/>
            <a:ext cx="3443288" cy="229743"/>
          </a:xfrm>
          <a:prstGeom prst="rect">
            <a:avLst/>
          </a:prstGeom>
          <a:noFill/>
          <a:ln/>
        </p:spPr>
        <p:txBody>
          <a:bodyPr wrap="none" lIns="0" tIns="0" rIns="0" bIns="0" rtlCol="0" anchor="t">
            <a:normAutofit/>
          </a:bodyPr>
          <a:lstStyle/>
          <a:p>
            <a:pPr algn="l" indent="0" marL="0">
              <a:lnSpc>
                <a:spcPts val="1688"/>
              </a:lnSpc>
              <a:buNone/>
            </a:pPr>
            <a:r>
              <a:rPr lang="en-US" sz="1125" dirty="0">
                <a:solidFill>
                  <a:srgbClr val="FFFFFF"/>
                </a:solidFill>
                <a:latin typeface="Carlito" pitchFamily="34" charset="0"/>
                <a:ea typeface="Carlito" pitchFamily="34" charset="-122"/>
                <a:cs typeface="Carlito" pitchFamily="34" charset="-120"/>
              </a:rPr>
              <a:t>Global Nurse Shortage</a:t>
            </a:r>
            <a:endParaRPr lang="en-US" sz="1125" dirty="0"/>
          </a:p>
        </p:txBody>
      </p:sp>
      <p:sp>
        <p:nvSpPr>
          <p:cNvPr id="8" name="Text 6"/>
          <p:cNvSpPr/>
          <p:nvPr/>
        </p:nvSpPr>
        <p:spPr>
          <a:xfrm>
            <a:off x="778669" y="2430661"/>
            <a:ext cx="3443288" cy="185166"/>
          </a:xfrm>
          <a:prstGeom prst="rect">
            <a:avLst/>
          </a:prstGeom>
          <a:noFill/>
          <a:ln/>
        </p:spPr>
        <p:txBody>
          <a:bodyPr wrap="square" lIns="0" tIns="0" rIns="0" bIns="0" rtlCol="0" anchor="t"/>
          <a:lstStyle/>
          <a:p>
            <a:pPr algn="l" indent="0" marL="0">
              <a:lnSpc>
                <a:spcPts val="1350"/>
              </a:lnSpc>
              <a:buNone/>
            </a:pPr>
            <a:r>
              <a:rPr lang="en-US" sz="900" dirty="0">
                <a:solidFill>
                  <a:srgbClr val="FFFFFF">
                    <a:alpha val="60000"/>
                  </a:srgbClr>
                </a:solidFill>
                <a:latin typeface="Carlito" pitchFamily="34" charset="0"/>
                <a:ea typeface="Carlito" pitchFamily="34" charset="-122"/>
                <a:cs typeface="Carlito" pitchFamily="34" charset="-120"/>
              </a:rPr>
              <a:t>WHO estimates a deficit of nearly 6 million nurses worldwide</a:t>
            </a:r>
            <a:endParaRPr lang="en-US" sz="900" dirty="0"/>
          </a:p>
        </p:txBody>
      </p:sp>
      <p:sp>
        <p:nvSpPr>
          <p:cNvPr id="9" name="Text 7"/>
          <p:cNvSpPr/>
          <p:nvPr/>
        </p:nvSpPr>
        <p:spPr>
          <a:xfrm>
            <a:off x="4661297" y="1339453"/>
            <a:ext cx="3964781" cy="1582341"/>
          </a:xfrm>
          <a:prstGeom prst="roundRect">
            <a:avLst>
              <a:gd name="adj" fmla="val 722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4922044" y="1573411"/>
            <a:ext cx="3443288" cy="486918"/>
          </a:xfrm>
          <a:prstGeom prst="rect">
            <a:avLst/>
          </a:prstGeom>
          <a:noFill/>
          <a:ln/>
        </p:spPr>
        <p:txBody>
          <a:bodyPr wrap="none" lIns="0" tIns="0" rIns="0" bIns="0" rtlCol="0" anchor="t">
            <a:normAutofit/>
          </a:bodyPr>
          <a:lstStyle/>
          <a:p>
            <a:pPr algn="l" indent="0" marL="0">
              <a:lnSpc>
                <a:spcPts val="3600"/>
              </a:lnSpc>
              <a:buNone/>
            </a:pPr>
            <a:r>
              <a:rPr lang="en-US" sz="3600" b="1" dirty="0">
                <a:solidFill>
                  <a:srgbClr val="00C9A7"/>
                </a:solidFill>
                <a:latin typeface="Liberation Sans Narrow" pitchFamily="34" charset="0"/>
                <a:ea typeface="Liberation Sans Narrow" pitchFamily="34" charset="-122"/>
                <a:cs typeface="Liberation Sans Narrow" pitchFamily="34" charset="-120"/>
              </a:rPr>
              <a:t>78K</a:t>
            </a:r>
            <a:endParaRPr lang="en-US" sz="3600" dirty="0"/>
          </a:p>
        </p:txBody>
      </p:sp>
      <p:sp>
        <p:nvSpPr>
          <p:cNvPr id="11" name="Text 9"/>
          <p:cNvSpPr/>
          <p:nvPr/>
        </p:nvSpPr>
        <p:spPr>
          <a:xfrm>
            <a:off x="4922044" y="2087761"/>
            <a:ext cx="3443288" cy="229743"/>
          </a:xfrm>
          <a:prstGeom prst="rect">
            <a:avLst/>
          </a:prstGeom>
          <a:noFill/>
          <a:ln/>
        </p:spPr>
        <p:txBody>
          <a:bodyPr wrap="none" lIns="0" tIns="0" rIns="0" bIns="0" rtlCol="0" anchor="t">
            <a:normAutofit/>
          </a:bodyPr>
          <a:lstStyle/>
          <a:p>
            <a:pPr algn="l" indent="0" marL="0">
              <a:lnSpc>
                <a:spcPts val="1688"/>
              </a:lnSpc>
              <a:buNone/>
            </a:pPr>
            <a:r>
              <a:rPr lang="en-US" sz="1125" dirty="0">
                <a:solidFill>
                  <a:srgbClr val="FFFFFF"/>
                </a:solidFill>
                <a:latin typeface="Liberation Sans Narrow" pitchFamily="34" charset="0"/>
                <a:ea typeface="Liberation Sans Narrow" pitchFamily="34" charset="-122"/>
                <a:cs typeface="Liberation Sans Narrow" pitchFamily="34" charset="-120"/>
              </a:rPr>
              <a:t>US RN Shortage (2025)</a:t>
            </a:r>
            <a:endParaRPr lang="en-US" sz="1125" dirty="0"/>
          </a:p>
        </p:txBody>
      </p:sp>
      <p:sp>
        <p:nvSpPr>
          <p:cNvPr id="12" name="Text 10"/>
          <p:cNvSpPr/>
          <p:nvPr/>
        </p:nvSpPr>
        <p:spPr>
          <a:xfrm>
            <a:off x="4922044" y="2344936"/>
            <a:ext cx="3443288" cy="344686"/>
          </a:xfrm>
          <a:prstGeom prst="rect">
            <a:avLst/>
          </a:prstGeom>
          <a:noFill/>
          <a:ln/>
        </p:spPr>
        <p:txBody>
          <a:bodyPr wrap="square" lIns="0" tIns="0" rIns="0" bIns="0" rtlCol="0" anchor="t"/>
          <a:lstStyle/>
          <a:p>
            <a:pPr algn="l" indent="0" marL="0">
              <a:lnSpc>
                <a:spcPts val="1350"/>
              </a:lnSpc>
              <a:buNone/>
            </a:pPr>
            <a:r>
              <a:rPr lang="en-US" sz="900" dirty="0">
                <a:solidFill>
                  <a:srgbClr val="FFFFFF">
                    <a:alpha val="60000"/>
                  </a:srgbClr>
                </a:solidFill>
                <a:latin typeface="Carlito" pitchFamily="34" charset="0"/>
                <a:ea typeface="Carlito" pitchFamily="34" charset="-122"/>
                <a:cs typeface="Carlito" pitchFamily="34" charset="-120"/>
              </a:rPr>
              <a:t>Federal projections show 78,610 fewer full-time registered nurses than needed</a:t>
            </a:r>
            <a:endParaRPr lang="en-US" sz="900" dirty="0"/>
          </a:p>
        </p:txBody>
      </p:sp>
      <p:sp>
        <p:nvSpPr>
          <p:cNvPr id="13" name="Text 11"/>
          <p:cNvSpPr/>
          <p:nvPr/>
        </p:nvSpPr>
        <p:spPr>
          <a:xfrm>
            <a:off x="517922" y="3100388"/>
            <a:ext cx="3964781" cy="1582341"/>
          </a:xfrm>
          <a:prstGeom prst="roundRect">
            <a:avLst>
              <a:gd name="adj" fmla="val 722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4" name="Text 12"/>
          <p:cNvSpPr/>
          <p:nvPr/>
        </p:nvSpPr>
        <p:spPr>
          <a:xfrm>
            <a:off x="778669" y="3420070"/>
            <a:ext cx="3443288" cy="486918"/>
          </a:xfrm>
          <a:prstGeom prst="rect">
            <a:avLst/>
          </a:prstGeom>
          <a:noFill/>
          <a:ln/>
        </p:spPr>
        <p:txBody>
          <a:bodyPr wrap="none" lIns="0" tIns="0" rIns="0" bIns="0" rtlCol="0" anchor="t">
            <a:normAutofit/>
          </a:bodyPr>
          <a:lstStyle/>
          <a:p>
            <a:pPr algn="l" indent="0" marL="0">
              <a:lnSpc>
                <a:spcPts val="3600"/>
              </a:lnSpc>
              <a:buNone/>
            </a:pPr>
            <a:r>
              <a:rPr lang="en-US" sz="3600" b="1" dirty="0">
                <a:solidFill>
                  <a:srgbClr val="00C9A7"/>
                </a:solidFill>
                <a:latin typeface="Liberation Sans Narrow" pitchFamily="34" charset="0"/>
                <a:ea typeface="Liberation Sans Narrow" pitchFamily="34" charset="-122"/>
                <a:cs typeface="Liberation Sans Narrow" pitchFamily="34" charset="-120"/>
              </a:rPr>
              <a:t>91%</a:t>
            </a:r>
            <a:endParaRPr lang="en-US" sz="3600" dirty="0"/>
          </a:p>
        </p:txBody>
      </p:sp>
      <p:sp>
        <p:nvSpPr>
          <p:cNvPr id="15" name="Text 13"/>
          <p:cNvSpPr/>
          <p:nvPr/>
        </p:nvSpPr>
        <p:spPr>
          <a:xfrm>
            <a:off x="778669" y="3934420"/>
            <a:ext cx="3443288" cy="229743"/>
          </a:xfrm>
          <a:prstGeom prst="rect">
            <a:avLst/>
          </a:prstGeom>
          <a:noFill/>
          <a:ln/>
        </p:spPr>
        <p:txBody>
          <a:bodyPr wrap="none" lIns="0" tIns="0" rIns="0" bIns="0" rtlCol="0" anchor="t">
            <a:normAutofit/>
          </a:bodyPr>
          <a:lstStyle/>
          <a:p>
            <a:pPr algn="l" indent="0" marL="0">
              <a:lnSpc>
                <a:spcPts val="1688"/>
              </a:lnSpc>
              <a:buNone/>
            </a:pPr>
            <a:r>
              <a:rPr lang="en-US" sz="1125" dirty="0">
                <a:solidFill>
                  <a:srgbClr val="FFFFFF"/>
                </a:solidFill>
                <a:latin typeface="Carlito" pitchFamily="34" charset="0"/>
                <a:ea typeface="Carlito" pitchFamily="34" charset="-122"/>
                <a:cs typeface="Carlito" pitchFamily="34" charset="-120"/>
              </a:rPr>
              <a:t>Workforce at Capacity</a:t>
            </a:r>
            <a:endParaRPr lang="en-US" sz="1125" dirty="0"/>
          </a:p>
        </p:txBody>
      </p:sp>
      <p:sp>
        <p:nvSpPr>
          <p:cNvPr id="16" name="Text 14"/>
          <p:cNvSpPr/>
          <p:nvPr/>
        </p:nvSpPr>
        <p:spPr>
          <a:xfrm>
            <a:off x="778669" y="4191595"/>
            <a:ext cx="3443288" cy="185166"/>
          </a:xfrm>
          <a:prstGeom prst="rect">
            <a:avLst/>
          </a:prstGeom>
          <a:noFill/>
          <a:ln/>
        </p:spPr>
        <p:txBody>
          <a:bodyPr wrap="square" lIns="0" tIns="0" rIns="0" bIns="0" rtlCol="0" anchor="t"/>
          <a:lstStyle/>
          <a:p>
            <a:pPr algn="l" indent="0" marL="0">
              <a:lnSpc>
                <a:spcPts val="1350"/>
              </a:lnSpc>
              <a:buNone/>
            </a:pPr>
            <a:r>
              <a:rPr lang="en-US" sz="900" dirty="0">
                <a:solidFill>
                  <a:srgbClr val="FFFFFF">
                    <a:alpha val="60000"/>
                  </a:srgbClr>
                </a:solidFill>
                <a:latin typeface="Carlito" pitchFamily="34" charset="0"/>
                <a:ea typeface="Carlito" pitchFamily="34" charset="-122"/>
                <a:cs typeface="Carlito" pitchFamily="34" charset="-120"/>
              </a:rPr>
              <a:t>Only 91.94% of nursing demand will be met by 2026 supply</a:t>
            </a:r>
            <a:endParaRPr lang="en-US" sz="900" dirty="0"/>
          </a:p>
        </p:txBody>
      </p:sp>
      <p:sp>
        <p:nvSpPr>
          <p:cNvPr id="17" name="Text 15"/>
          <p:cNvSpPr/>
          <p:nvPr/>
        </p:nvSpPr>
        <p:spPr>
          <a:xfrm>
            <a:off x="4661297" y="3100388"/>
            <a:ext cx="3964781" cy="1582341"/>
          </a:xfrm>
          <a:prstGeom prst="roundRect">
            <a:avLst>
              <a:gd name="adj" fmla="val 722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8" name="Text 16"/>
          <p:cNvSpPr/>
          <p:nvPr/>
        </p:nvSpPr>
        <p:spPr>
          <a:xfrm>
            <a:off x="4922044" y="3334345"/>
            <a:ext cx="3443288" cy="486918"/>
          </a:xfrm>
          <a:prstGeom prst="rect">
            <a:avLst/>
          </a:prstGeom>
          <a:noFill/>
          <a:ln/>
        </p:spPr>
        <p:txBody>
          <a:bodyPr wrap="none" lIns="0" tIns="0" rIns="0" bIns="0" rtlCol="0" anchor="t">
            <a:normAutofit/>
          </a:bodyPr>
          <a:lstStyle/>
          <a:p>
            <a:pPr algn="l" indent="0" marL="0">
              <a:lnSpc>
                <a:spcPts val="3600"/>
              </a:lnSpc>
              <a:buNone/>
            </a:pPr>
            <a:r>
              <a:rPr lang="en-US" sz="3600" b="1" dirty="0">
                <a:solidFill>
                  <a:srgbClr val="00C9A7"/>
                </a:solidFill>
                <a:latin typeface="Carlito" pitchFamily="34" charset="0"/>
                <a:ea typeface="Carlito" pitchFamily="34" charset="-122"/>
                <a:cs typeface="Carlito" pitchFamily="34" charset="-120"/>
              </a:rPr>
              <a:t>Global</a:t>
            </a:r>
            <a:endParaRPr lang="en-US" sz="3600" dirty="0"/>
          </a:p>
        </p:txBody>
      </p:sp>
      <p:sp>
        <p:nvSpPr>
          <p:cNvPr id="19" name="Text 17"/>
          <p:cNvSpPr/>
          <p:nvPr/>
        </p:nvSpPr>
        <p:spPr>
          <a:xfrm>
            <a:off x="4922044" y="3848695"/>
            <a:ext cx="3443288" cy="229743"/>
          </a:xfrm>
          <a:prstGeom prst="rect">
            <a:avLst/>
          </a:prstGeom>
          <a:noFill/>
          <a:ln/>
        </p:spPr>
        <p:txBody>
          <a:bodyPr wrap="none" lIns="0" tIns="0" rIns="0" bIns="0" rtlCol="0" anchor="t">
            <a:normAutofit/>
          </a:bodyPr>
          <a:lstStyle/>
          <a:p>
            <a:pPr algn="l" indent="0" marL="0">
              <a:lnSpc>
                <a:spcPts val="1688"/>
              </a:lnSpc>
              <a:buNone/>
            </a:pPr>
            <a:r>
              <a:rPr lang="en-US" sz="1125" dirty="0">
                <a:solidFill>
                  <a:srgbClr val="FFFFFF"/>
                </a:solidFill>
                <a:latin typeface="Carlito" pitchFamily="34" charset="0"/>
                <a:ea typeface="Carlito" pitchFamily="34" charset="-122"/>
                <a:cs typeface="Carlito" pitchFamily="34" charset="-120"/>
              </a:rPr>
              <a:t>Health Emergency</a:t>
            </a:r>
            <a:endParaRPr lang="en-US" sz="1125" dirty="0"/>
          </a:p>
        </p:txBody>
      </p:sp>
      <p:sp>
        <p:nvSpPr>
          <p:cNvPr id="20" name="Text 18"/>
          <p:cNvSpPr/>
          <p:nvPr/>
        </p:nvSpPr>
        <p:spPr>
          <a:xfrm>
            <a:off x="4922044" y="4105870"/>
            <a:ext cx="3443288" cy="344686"/>
          </a:xfrm>
          <a:prstGeom prst="rect">
            <a:avLst/>
          </a:prstGeom>
          <a:noFill/>
          <a:ln/>
        </p:spPr>
        <p:txBody>
          <a:bodyPr wrap="square" lIns="0" tIns="0" rIns="0" bIns="0" rtlCol="0" anchor="t"/>
          <a:lstStyle/>
          <a:p>
            <a:pPr algn="l" indent="0" marL="0">
              <a:lnSpc>
                <a:spcPts val="1350"/>
              </a:lnSpc>
              <a:buNone/>
            </a:pPr>
            <a:r>
              <a:rPr lang="en-US" sz="900" dirty="0">
                <a:solidFill>
                  <a:srgbClr val="FFFFFF">
                    <a:alpha val="60000"/>
                  </a:srgbClr>
                </a:solidFill>
                <a:latin typeface="Carlito" pitchFamily="34" charset="0"/>
                <a:ea typeface="Carlito" pitchFamily="34" charset="-122"/>
                <a:cs typeface="Carlito" pitchFamily="34" charset="-120"/>
              </a:rPr>
              <a:t>ICN calls the worldwide nursing shortage a global health emergency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517922" y="717947"/>
            <a:ext cx="3358902" cy="3707606"/>
          </a:xfrm>
          <a:prstGeom prst="roundRect">
            <a:avLst>
              <a:gd name="adj" fmla="val 4537"/>
            </a:avLst>
          </a:prstGeom>
          <a:noFill/>
          <a:ln w="7144">
            <a:solidFill>
              <a:srgbClr val="00C9A7"/>
            </a:solidFill>
            <a:prstDash val="solid"/>
          </a:ln>
          <a:effectLst>
            <a:outerShdw sx="100000" sy="100000" kx="0" ky="0" algn="bl" rotWithShape="0" blurRad="304800" dist="76200" dir="5400000">
              <a:srgbClr val="000000">
                <a:alpha val="30000"/>
              </a:srgbClr>
            </a:outerShdw>
          </a:effectLst>
        </p:spPr>
        <p:txBody>
          <a:bodyPr wrap="square" rtlCol="0" anchor="ctr"/>
          <a:lstStyle/>
          <a:p>
            <a:pPr indent="0" marL="0">
              <a:buNone/>
            </a:pPr>
            <a:endParaRPr lang="en-US" dirty="0"/>
          </a:p>
        </p:txBody>
      </p:sp>
      <p:pic>
        <p:nvPicPr>
          <p:cNvPr id="3" name="Image 0" descr="/tmp/h2p-fit-1781435411173-skxpcn.png">    </p:cNvPr>
          <p:cNvPicPr>
            <a:picLocks noChangeAspect="1"/>
          </p:cNvPicPr>
          <p:nvPr/>
        </p:nvPicPr>
        <p:blipFill>
          <a:blip r:embed="rId1"/>
          <a:stretch>
            <a:fillRect/>
          </a:stretch>
        </p:blipFill>
        <p:spPr>
          <a:xfrm>
            <a:off x="521494" y="721519"/>
            <a:ext cx="3351758" cy="3700463"/>
          </a:xfrm>
          <a:prstGeom prst="rect">
            <a:avLst/>
          </a:prstGeom>
        </p:spPr>
      </p:pic>
      <p:sp>
        <p:nvSpPr>
          <p:cNvPr id="4" name="Text 1"/>
          <p:cNvSpPr/>
          <p:nvPr/>
        </p:nvSpPr>
        <p:spPr>
          <a:xfrm>
            <a:off x="4257586" y="787075"/>
            <a:ext cx="1103553" cy="264919"/>
          </a:xfrm>
          <a:prstGeom prst="roundRect">
            <a:avLst>
              <a:gd name="adj" fmla="val 35918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5" name="Text 2"/>
          <p:cNvSpPr/>
          <p:nvPr/>
        </p:nvSpPr>
        <p:spPr>
          <a:xfrm>
            <a:off x="4280446" y="799877"/>
            <a:ext cx="1057833" cy="239316"/>
          </a:xfrm>
          <a:prstGeom prst="rect">
            <a:avLst/>
          </a:prstGeom>
          <a:noFill/>
          <a:ln/>
        </p:spPr>
        <p:txBody>
          <a:bodyPr wrap="none" lIns="114300" tIns="42863" rIns="114300" bIns="42863" rtlCol="0" anchor="ctr"/>
          <a:lstStyle/>
          <a:p>
            <a:pPr algn="ctr" indent="0" marL="0">
              <a:lnSpc>
                <a:spcPts val="1097"/>
              </a:lnSpc>
              <a:buNone/>
            </a:pPr>
            <a:r>
              <a:rPr lang="en-US" sz="800" spc="84" kern="0" dirty="0">
                <a:solidFill>
                  <a:srgbClr val="00C9A7"/>
                </a:solidFill>
                <a:latin typeface="Carlito" pitchFamily="34" charset="0"/>
                <a:ea typeface="Carlito" pitchFamily="34" charset="-122"/>
                <a:cs typeface="Carlito" pitchFamily="34" charset="-120"/>
              </a:rPr>
              <a:t>THE SOLUTION</a:t>
            </a:r>
            <a:endParaRPr lang="en-US" sz="800" dirty="0"/>
          </a:p>
        </p:txBody>
      </p:sp>
      <p:sp>
        <p:nvSpPr>
          <p:cNvPr id="6" name="Text 3"/>
          <p:cNvSpPr/>
          <p:nvPr/>
        </p:nvSpPr>
        <p:spPr>
          <a:xfrm>
            <a:off x="4280446" y="1210642"/>
            <a:ext cx="4349093" cy="666405"/>
          </a:xfrm>
          <a:prstGeom prst="rect">
            <a:avLst/>
          </a:prstGeom>
          <a:noFill/>
          <a:ln/>
        </p:spPr>
        <p:txBody>
          <a:bodyPr wrap="square" lIns="0" tIns="0" rIns="0" bIns="0" rtlCol="0" anchor="t"/>
          <a:lstStyle/>
          <a:p>
            <a:pPr algn="l" indent="0" marL="0">
              <a:lnSpc>
                <a:spcPts val="2430"/>
              </a:lnSpc>
              <a:buNone/>
            </a:pPr>
            <a:r>
              <a:rPr lang="en-US" sz="2025" b="1" dirty="0">
                <a:solidFill>
                  <a:srgbClr val="FFFFFF"/>
                </a:solidFill>
                <a:latin typeface="Tinos" pitchFamily="34" charset="0"/>
                <a:ea typeface="Tinos" pitchFamily="34" charset="-122"/>
                <a:cs typeface="Tinos" pitchFamily="34" charset="-120"/>
              </a:rPr>
              <a:t>Technology Built by a Nurse, for Healthcare</a:t>
            </a:r>
            <a:endParaRPr lang="en-US" sz="2025" dirty="0"/>
          </a:p>
        </p:txBody>
      </p:sp>
      <p:sp>
        <p:nvSpPr>
          <p:cNvPr id="7" name="Text 4"/>
          <p:cNvSpPr/>
          <p:nvPr/>
        </p:nvSpPr>
        <p:spPr>
          <a:xfrm>
            <a:off x="4280446" y="1970559"/>
            <a:ext cx="4349093" cy="668695"/>
          </a:xfrm>
          <a:prstGeom prst="rect">
            <a:avLst/>
          </a:prstGeom>
          <a:noFill/>
          <a:ln/>
        </p:spPr>
        <p:txBody>
          <a:bodyPr wrap="square" lIns="0" tIns="0" rIns="0" bIns="0" rtlCol="0" anchor="t"/>
          <a:lstStyle/>
          <a:p>
            <a:pPr algn="l" indent="0" marL="0">
              <a:lnSpc>
                <a:spcPts val="1626"/>
              </a:lnSpc>
              <a:buNone/>
            </a:pPr>
            <a:r>
              <a:rPr lang="en-US" sz="956" dirty="0">
                <a:solidFill>
                  <a:srgbClr val="FFFFFF">
                    <a:alpha val="75000"/>
                  </a:srgbClr>
                </a:solidFill>
                <a:latin typeface="Carlito" pitchFamily="34" charset="0"/>
                <a:ea typeface="Carlito" pitchFamily="34" charset="-122"/>
                <a:cs typeface="Carlito" pitchFamily="34" charset="-120"/>
              </a:rPr>
              <a:t>NurseOS addresses the nursing crisis at its core — not by replacing nurses, but by empowering them. Every feature is designed from the perspective of clinical workflow, patient safety, and the daily reality of nursing practice.</a:t>
            </a:r>
            <a:endParaRPr lang="en-US" sz="956" dirty="0"/>
          </a:p>
        </p:txBody>
      </p:sp>
      <p:sp>
        <p:nvSpPr>
          <p:cNvPr id="8" name="Text 5"/>
          <p:cNvSpPr/>
          <p:nvPr/>
        </p:nvSpPr>
        <p:spPr>
          <a:xfrm>
            <a:off x="4284018" y="2879043"/>
            <a:ext cx="307181" cy="307181"/>
          </a:xfrm>
          <a:prstGeom prst="ellipse">
            <a:avLst/>
          </a:prstGeom>
          <a:solidFill>
            <a:srgbClr val="00C9A7">
              <a:alpha val="12000"/>
            </a:srgbClr>
          </a:solidFill>
          <a:ln w="7144">
            <a:solidFill>
              <a:srgbClr val="00C9A7"/>
            </a:solidFill>
            <a:prstDash val="solid"/>
          </a:ln>
        </p:spPr>
        <p:txBody>
          <a:bodyPr wrap="square" rtlCol="0" anchor="ctr"/>
          <a:lstStyle/>
          <a:p>
            <a:pPr indent="0" marL="0">
              <a:buNone/>
            </a:pPr>
            <a:endParaRPr lang="en-US" dirty="0"/>
          </a:p>
        </p:txBody>
      </p:sp>
      <p:sp>
        <p:nvSpPr>
          <p:cNvPr id="9" name="Text 6"/>
          <p:cNvSpPr/>
          <p:nvPr/>
        </p:nvSpPr>
        <p:spPr>
          <a:xfrm>
            <a:off x="4323665" y="2918691"/>
            <a:ext cx="227886" cy="227886"/>
          </a:xfrm>
          <a:prstGeom prst="rect">
            <a:avLst/>
          </a:prstGeom>
          <a:noFill/>
          <a:ln/>
        </p:spPr>
        <p:txBody>
          <a:bodyPr wrap="none" lIns="0" tIns="0" rIns="0" bIns="0" rtlCol="0" anchor="ctr"/>
          <a:lstStyle/>
          <a:p>
            <a:pPr algn="ctr" indent="0" marL="0">
              <a:buNone/>
            </a:pPr>
            <a:r>
              <a:rPr lang="en-US" sz="1547" dirty="0">
                <a:solidFill>
                  <a:srgbClr val="00C9A7"/>
                </a:solidFill>
                <a:latin typeface="Segoe UI Symbol" pitchFamily="34" charset="0"/>
                <a:ea typeface="Segoe UI Symbol" pitchFamily="34" charset="-122"/>
                <a:cs typeface="Segoe UI Symbol" pitchFamily="34" charset="-120"/>
              </a:rPr>
              <a:t>✦</a:t>
            </a:r>
            <a:endParaRPr lang="en-US" sz="1547" dirty="0"/>
          </a:p>
        </p:txBody>
      </p:sp>
      <p:sp>
        <p:nvSpPr>
          <p:cNvPr id="10" name="Text 7"/>
          <p:cNvSpPr/>
          <p:nvPr/>
        </p:nvSpPr>
        <p:spPr>
          <a:xfrm>
            <a:off x="4709071" y="2875471"/>
            <a:ext cx="3064250"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AI-Assisted Decisions</a:t>
            </a:r>
            <a:endParaRPr lang="en-US" sz="1013" dirty="0"/>
          </a:p>
        </p:txBody>
      </p:sp>
      <p:sp>
        <p:nvSpPr>
          <p:cNvPr id="11" name="Text 8"/>
          <p:cNvSpPr/>
          <p:nvPr/>
        </p:nvSpPr>
        <p:spPr>
          <a:xfrm>
            <a:off x="4709071" y="3089783"/>
            <a:ext cx="2918333" cy="173593"/>
          </a:xfrm>
          <a:prstGeom prst="rect">
            <a:avLst/>
          </a:prstGeom>
          <a:noFill/>
          <a:ln/>
        </p:spPr>
        <p:txBody>
          <a:bodyPr wrap="square" lIns="0" tIns="0" rIns="0" bIns="0" rtlCol="0" anchor="t"/>
          <a:lstStyle/>
          <a:p>
            <a:pPr algn="l" indent="0" marL="0">
              <a:lnSpc>
                <a:spcPts val="1266"/>
              </a:lnSpc>
              <a:buNone/>
            </a:pPr>
            <a:r>
              <a:rPr lang="en-US" sz="844" dirty="0">
                <a:solidFill>
                  <a:srgbClr val="FFFFFF">
                    <a:alpha val="60000"/>
                  </a:srgbClr>
                </a:solidFill>
                <a:latin typeface="Carlito" pitchFamily="34" charset="0"/>
                <a:ea typeface="Carlito" pitchFamily="34" charset="-122"/>
                <a:cs typeface="Carlito" pitchFamily="34" charset="-120"/>
              </a:rPr>
              <a:t>Real-time clinical decision support and early warning systems</a:t>
            </a:r>
            <a:endParaRPr lang="en-US" sz="844" dirty="0"/>
          </a:p>
        </p:txBody>
      </p:sp>
      <p:sp>
        <p:nvSpPr>
          <p:cNvPr id="12" name="Text 9"/>
          <p:cNvSpPr/>
          <p:nvPr/>
        </p:nvSpPr>
        <p:spPr>
          <a:xfrm>
            <a:off x="4284018" y="3425540"/>
            <a:ext cx="307181" cy="307181"/>
          </a:xfrm>
          <a:prstGeom prst="ellipse">
            <a:avLst/>
          </a:prstGeom>
          <a:solidFill>
            <a:srgbClr val="00C9A7">
              <a:alpha val="12000"/>
            </a:srgbClr>
          </a:solidFill>
          <a:ln w="7144">
            <a:solidFill>
              <a:srgbClr val="00C9A7"/>
            </a:solidFill>
            <a:prstDash val="solid"/>
          </a:ln>
        </p:spPr>
        <p:txBody>
          <a:bodyPr wrap="square" rtlCol="0" anchor="ctr"/>
          <a:lstStyle/>
          <a:p>
            <a:pPr indent="0" marL="0">
              <a:buNone/>
            </a:pPr>
            <a:endParaRPr lang="en-US" dirty="0"/>
          </a:p>
        </p:txBody>
      </p:sp>
      <p:sp>
        <p:nvSpPr>
          <p:cNvPr id="13" name="Text 10"/>
          <p:cNvSpPr/>
          <p:nvPr/>
        </p:nvSpPr>
        <p:spPr>
          <a:xfrm>
            <a:off x="4323665" y="3465188"/>
            <a:ext cx="227886" cy="227886"/>
          </a:xfrm>
          <a:prstGeom prst="rect">
            <a:avLst/>
          </a:prstGeom>
          <a:noFill/>
          <a:ln/>
        </p:spPr>
        <p:txBody>
          <a:bodyPr wrap="none" lIns="0" tIns="0" rIns="0" bIns="0" rtlCol="0" anchor="ctr"/>
          <a:lstStyle/>
          <a:p>
            <a:pPr algn="ctr" indent="0" marL="0">
              <a:buNone/>
            </a:pPr>
            <a:r>
              <a:rPr lang="en-US" sz="1547" dirty="0">
                <a:solidFill>
                  <a:srgbClr val="00C9A7"/>
                </a:solidFill>
                <a:latin typeface="Segoe UI Symbol" pitchFamily="34" charset="0"/>
                <a:ea typeface="Segoe UI Symbol" pitchFamily="34" charset="-122"/>
                <a:cs typeface="Segoe UI Symbol" pitchFamily="34" charset="-120"/>
              </a:rPr>
              <a:t>✦</a:t>
            </a:r>
            <a:endParaRPr lang="en-US" sz="1547" dirty="0"/>
          </a:p>
        </p:txBody>
      </p:sp>
      <p:sp>
        <p:nvSpPr>
          <p:cNvPr id="14" name="Text 11"/>
          <p:cNvSpPr/>
          <p:nvPr/>
        </p:nvSpPr>
        <p:spPr>
          <a:xfrm>
            <a:off x="4709071" y="3421968"/>
            <a:ext cx="2826681"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Connected Care</a:t>
            </a:r>
            <a:endParaRPr lang="en-US" sz="1013" dirty="0"/>
          </a:p>
        </p:txBody>
      </p:sp>
      <p:sp>
        <p:nvSpPr>
          <p:cNvPr id="15" name="Text 12"/>
          <p:cNvSpPr/>
          <p:nvPr/>
        </p:nvSpPr>
        <p:spPr>
          <a:xfrm>
            <a:off x="4709071" y="3636280"/>
            <a:ext cx="2692078" cy="173593"/>
          </a:xfrm>
          <a:prstGeom prst="rect">
            <a:avLst/>
          </a:prstGeom>
          <a:noFill/>
          <a:ln/>
        </p:spPr>
        <p:txBody>
          <a:bodyPr wrap="square" lIns="0" tIns="0" rIns="0" bIns="0" rtlCol="0" anchor="t"/>
          <a:lstStyle/>
          <a:p>
            <a:pPr algn="l" indent="0" marL="0">
              <a:lnSpc>
                <a:spcPts val="1266"/>
              </a:lnSpc>
              <a:buNone/>
            </a:pPr>
            <a:r>
              <a:rPr lang="en-US" sz="844" dirty="0">
                <a:solidFill>
                  <a:srgbClr val="FFFFFF">
                    <a:alpha val="60000"/>
                  </a:srgbClr>
                </a:solidFill>
                <a:latin typeface="Carlito" pitchFamily="34" charset="0"/>
                <a:ea typeface="Carlito" pitchFamily="34" charset="-122"/>
                <a:cs typeface="Carlito" pitchFamily="34" charset="-120"/>
              </a:rPr>
              <a:t>Seamless referral networks and inter-facility coordination</a:t>
            </a:r>
            <a:endParaRPr lang="en-US" sz="844" dirty="0"/>
          </a:p>
        </p:txBody>
      </p:sp>
      <p:sp>
        <p:nvSpPr>
          <p:cNvPr id="16" name="Text 13"/>
          <p:cNvSpPr/>
          <p:nvPr/>
        </p:nvSpPr>
        <p:spPr>
          <a:xfrm>
            <a:off x="4284018" y="3972037"/>
            <a:ext cx="307181" cy="307181"/>
          </a:xfrm>
          <a:prstGeom prst="ellipse">
            <a:avLst/>
          </a:prstGeom>
          <a:solidFill>
            <a:srgbClr val="00C9A7">
              <a:alpha val="12000"/>
            </a:srgbClr>
          </a:solidFill>
          <a:ln w="7144">
            <a:solidFill>
              <a:srgbClr val="00C9A7"/>
            </a:solidFill>
            <a:prstDash val="solid"/>
          </a:ln>
        </p:spPr>
        <p:txBody>
          <a:bodyPr wrap="square" rtlCol="0" anchor="ctr"/>
          <a:lstStyle/>
          <a:p>
            <a:pPr indent="0" marL="0">
              <a:buNone/>
            </a:pPr>
            <a:endParaRPr lang="en-US" dirty="0"/>
          </a:p>
        </p:txBody>
      </p:sp>
      <p:sp>
        <p:nvSpPr>
          <p:cNvPr id="17" name="Text 14"/>
          <p:cNvSpPr/>
          <p:nvPr/>
        </p:nvSpPr>
        <p:spPr>
          <a:xfrm>
            <a:off x="4323665" y="4011684"/>
            <a:ext cx="227886" cy="227886"/>
          </a:xfrm>
          <a:prstGeom prst="rect">
            <a:avLst/>
          </a:prstGeom>
          <a:noFill/>
          <a:ln/>
        </p:spPr>
        <p:txBody>
          <a:bodyPr wrap="none" lIns="0" tIns="0" rIns="0" bIns="0" rtlCol="0" anchor="ctr"/>
          <a:lstStyle/>
          <a:p>
            <a:pPr algn="ctr" indent="0" marL="0">
              <a:buNone/>
            </a:pPr>
            <a:r>
              <a:rPr lang="en-US" sz="1547" dirty="0">
                <a:solidFill>
                  <a:srgbClr val="00C9A7"/>
                </a:solidFill>
                <a:latin typeface="Segoe UI Symbol" pitchFamily="34" charset="0"/>
                <a:ea typeface="Segoe UI Symbol" pitchFamily="34" charset="-122"/>
                <a:cs typeface="Segoe UI Symbol" pitchFamily="34" charset="-120"/>
              </a:rPr>
              <a:t>▿</a:t>
            </a:r>
            <a:endParaRPr lang="en-US" sz="1547" dirty="0"/>
          </a:p>
        </p:txBody>
      </p:sp>
      <p:sp>
        <p:nvSpPr>
          <p:cNvPr id="18" name="Text 15"/>
          <p:cNvSpPr/>
          <p:nvPr/>
        </p:nvSpPr>
        <p:spPr>
          <a:xfrm>
            <a:off x="4709071" y="3968465"/>
            <a:ext cx="3014674"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Continuous Growth</a:t>
            </a:r>
            <a:endParaRPr lang="en-US" sz="1013" dirty="0"/>
          </a:p>
        </p:txBody>
      </p:sp>
      <p:sp>
        <p:nvSpPr>
          <p:cNvPr id="19" name="Text 16"/>
          <p:cNvSpPr/>
          <p:nvPr/>
        </p:nvSpPr>
        <p:spPr>
          <a:xfrm>
            <a:off x="4709071" y="4182777"/>
            <a:ext cx="2871118" cy="173593"/>
          </a:xfrm>
          <a:prstGeom prst="rect">
            <a:avLst/>
          </a:prstGeom>
          <a:noFill/>
          <a:ln/>
        </p:spPr>
        <p:txBody>
          <a:bodyPr wrap="square" lIns="0" tIns="0" rIns="0" bIns="0" rtlCol="0" anchor="t"/>
          <a:lstStyle/>
          <a:p>
            <a:pPr algn="l" indent="0" marL="0">
              <a:lnSpc>
                <a:spcPts val="1266"/>
              </a:lnSpc>
              <a:buNone/>
            </a:pPr>
            <a:r>
              <a:rPr lang="en-US" sz="844" dirty="0">
                <a:solidFill>
                  <a:srgbClr val="FFFFFF">
                    <a:alpha val="60000"/>
                  </a:srgbClr>
                </a:solidFill>
                <a:latin typeface="Carlito" pitchFamily="34" charset="0"/>
                <a:ea typeface="Carlito" pitchFamily="34" charset="-122"/>
                <a:cs typeface="Carlito" pitchFamily="34" charset="-120"/>
              </a:rPr>
              <a:t>CPD tracking, credentialing, and simulation-based education</a:t>
            </a:r>
            <a:endParaRPr lang="en-US" sz="8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34340" y="444398"/>
            <a:ext cx="1083461" cy="275634"/>
          </a:xfrm>
          <a:prstGeom prst="roundRect">
            <a:avLst>
              <a:gd name="adj" fmla="val 3452214"/>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3" name="Text 1"/>
          <p:cNvSpPr/>
          <p:nvPr/>
        </p:nvSpPr>
        <p:spPr>
          <a:xfrm>
            <a:off x="457200" y="457200"/>
            <a:ext cx="1037741" cy="250031"/>
          </a:xfrm>
          <a:prstGeom prst="rect">
            <a:avLst/>
          </a:prstGeom>
          <a:noFill/>
          <a:ln/>
        </p:spPr>
        <p:txBody>
          <a:bodyPr wrap="none" lIns="114300" tIns="42863" rIns="114300" bIns="42863" rtlCol="0" anchor="ctr"/>
          <a:lstStyle/>
          <a:p>
            <a:pPr algn="ctr" indent="0" marL="0">
              <a:lnSpc>
                <a:spcPts val="1181"/>
              </a:lnSpc>
              <a:buNone/>
            </a:pPr>
            <a:r>
              <a:rPr lang="en-US" sz="800" dirty="0">
                <a:solidFill>
                  <a:srgbClr val="00C9A7"/>
                </a:solidFill>
                <a:latin typeface="Carlito" pitchFamily="34" charset="0"/>
                <a:ea typeface="Carlito" pitchFamily="34" charset="-122"/>
                <a:cs typeface="Carlito" pitchFamily="34" charset="-120"/>
              </a:rPr>
              <a:t>Platform Features</a:t>
            </a:r>
            <a:endParaRPr lang="en-US" sz="800" dirty="0"/>
          </a:p>
        </p:txBody>
      </p:sp>
      <p:sp>
        <p:nvSpPr>
          <p:cNvPr id="4" name="Text 2"/>
          <p:cNvSpPr/>
          <p:nvPr/>
        </p:nvSpPr>
        <p:spPr>
          <a:xfrm>
            <a:off x="457200" y="907256"/>
            <a:ext cx="8229600" cy="333202"/>
          </a:xfrm>
          <a:prstGeom prst="rect">
            <a:avLst/>
          </a:prstGeom>
          <a:noFill/>
          <a:ln/>
        </p:spPr>
        <p:txBody>
          <a:bodyPr wrap="square" lIns="0" tIns="0" rIns="0" bIns="0" rtlCol="0" anchor="t"/>
          <a:lstStyle/>
          <a:p>
            <a:pPr algn="l" indent="0" marL="0">
              <a:lnSpc>
                <a:spcPts val="2430"/>
              </a:lnSpc>
              <a:buNone/>
            </a:pPr>
            <a:r>
              <a:rPr lang="en-US" sz="2025" dirty="0">
                <a:solidFill>
                  <a:srgbClr val="FFFFFF"/>
                </a:solidFill>
                <a:latin typeface="Tinos" pitchFamily="34" charset="0"/>
                <a:ea typeface="Tinos" pitchFamily="34" charset="-122"/>
                <a:cs typeface="Tinos" pitchFamily="34" charset="-120"/>
              </a:rPr>
              <a:t>Five integrated modules. One unified system.</a:t>
            </a:r>
            <a:endParaRPr lang="en-US" sz="2025" dirty="0"/>
          </a:p>
        </p:txBody>
      </p:sp>
      <p:sp>
        <p:nvSpPr>
          <p:cNvPr id="5" name="Text 3"/>
          <p:cNvSpPr/>
          <p:nvPr/>
        </p:nvSpPr>
        <p:spPr>
          <a:xfrm>
            <a:off x="460772" y="1476524"/>
            <a:ext cx="5431594" cy="1489472"/>
          </a:xfrm>
          <a:prstGeom prst="roundRect">
            <a:avLst>
              <a:gd name="adj" fmla="val 10232"/>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667941" y="1683693"/>
            <a:ext cx="335756" cy="335756"/>
          </a:xfrm>
          <a:prstGeom prst="roundRect">
            <a:avLst>
              <a:gd name="adj" fmla="val 340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7" name="Text 5"/>
          <p:cNvSpPr/>
          <p:nvPr/>
        </p:nvSpPr>
        <p:spPr>
          <a:xfrm>
            <a:off x="711518" y="1727269"/>
            <a:ext cx="248602" cy="248602"/>
          </a:xfrm>
          <a:prstGeom prst="rect">
            <a:avLst/>
          </a:prstGeom>
          <a:noFill/>
          <a:ln/>
        </p:spPr>
        <p:txBody>
          <a:bodyPr wrap="none" lIns="0" tIns="0" rIns="0" bIns="0" rtlCol="0" anchor="ctr"/>
          <a:lstStyle/>
          <a:p>
            <a:pPr algn="ctr" indent="0" marL="0">
              <a:buNone/>
            </a:pPr>
            <a:r>
              <a:rPr lang="en-US" sz="1688" dirty="0">
                <a:solidFill>
                  <a:srgbClr val="00C9A7"/>
                </a:solidFill>
                <a:latin typeface="Segoe UI Symbol" pitchFamily="34" charset="0"/>
                <a:ea typeface="Segoe UI Symbol" pitchFamily="34" charset="-122"/>
                <a:cs typeface="Segoe UI Symbol" pitchFamily="34" charset="-120"/>
              </a:rPr>
              <a:t>◯</a:t>
            </a:r>
            <a:endParaRPr lang="en-US" sz="1688" dirty="0"/>
          </a:p>
        </p:txBody>
      </p:sp>
      <p:sp>
        <p:nvSpPr>
          <p:cNvPr id="8" name="Text 6"/>
          <p:cNvSpPr/>
          <p:nvPr/>
        </p:nvSpPr>
        <p:spPr>
          <a:xfrm>
            <a:off x="1150144" y="1680121"/>
            <a:ext cx="4538625" cy="300895"/>
          </a:xfrm>
          <a:prstGeom prst="rect">
            <a:avLst/>
          </a:prstGeom>
          <a:noFill/>
          <a:ln/>
        </p:spPr>
        <p:txBody>
          <a:bodyPr wrap="none" lIns="0" tIns="0" rIns="0" bIns="0" rtlCol="0" anchor="t"/>
          <a:lstStyle/>
          <a:p>
            <a:pPr algn="l" indent="0" marL="0">
              <a:lnSpc>
                <a:spcPts val="2194"/>
              </a:lnSpc>
              <a:buNone/>
            </a:pPr>
            <a:r>
              <a:rPr lang="en-US" sz="1463" dirty="0">
                <a:solidFill>
                  <a:srgbClr val="FFFFFF"/>
                </a:solidFill>
                <a:latin typeface="Tinos" pitchFamily="34" charset="0"/>
                <a:ea typeface="Tinos" pitchFamily="34" charset="-122"/>
                <a:cs typeface="Tinos" pitchFamily="34" charset="-120"/>
              </a:rPr>
              <a:t>NurseAI</a:t>
            </a:r>
            <a:endParaRPr lang="en-US" sz="1463" dirty="0"/>
          </a:p>
        </p:txBody>
      </p:sp>
      <p:sp>
        <p:nvSpPr>
          <p:cNvPr id="9" name="Text 7"/>
          <p:cNvSpPr/>
          <p:nvPr/>
        </p:nvSpPr>
        <p:spPr>
          <a:xfrm>
            <a:off x="1150144" y="2030164"/>
            <a:ext cx="4538625" cy="419517"/>
          </a:xfrm>
          <a:prstGeom prst="rect">
            <a:avLst/>
          </a:prstGeom>
          <a:noFill/>
          <a:ln/>
        </p:spPr>
        <p:txBody>
          <a:bodyPr wrap="square" lIns="0" tIns="0" rIns="0" bIns="0" rtlCol="0" anchor="t"/>
          <a:lstStyle/>
          <a:p>
            <a:pPr algn="l" indent="0" marL="0">
              <a:lnSpc>
                <a:spcPts val="1530"/>
              </a:lnSpc>
              <a:buNone/>
            </a:pPr>
            <a:r>
              <a:rPr lang="en-US" sz="956" dirty="0">
                <a:solidFill>
                  <a:srgbClr val="FFFFFF">
                    <a:alpha val="70000"/>
                  </a:srgbClr>
                </a:solidFill>
                <a:latin typeface="Carlito" pitchFamily="34" charset="0"/>
                <a:ea typeface="Carlito" pitchFamily="34" charset="-122"/>
                <a:cs typeface="Carlito" pitchFamily="34" charset="-120"/>
              </a:rPr>
              <a:t>AI-powered clinical decision support, nursing assessments, care plans, and intelligent suggestions with confidence scoring</a:t>
            </a:r>
            <a:endParaRPr lang="en-US" sz="956" dirty="0"/>
          </a:p>
        </p:txBody>
      </p:sp>
      <p:sp>
        <p:nvSpPr>
          <p:cNvPr id="10" name="Text 8"/>
          <p:cNvSpPr/>
          <p:nvPr/>
        </p:nvSpPr>
        <p:spPr>
          <a:xfrm>
            <a:off x="641509" y="2539014"/>
            <a:ext cx="967264" cy="236030"/>
          </a:xfrm>
          <a:prstGeom prst="roundRect">
            <a:avLst>
              <a:gd name="adj" fmla="val 4031468"/>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1" name="Text 9"/>
          <p:cNvSpPr/>
          <p:nvPr/>
        </p:nvSpPr>
        <p:spPr>
          <a:xfrm>
            <a:off x="664369" y="2551658"/>
            <a:ext cx="921544" cy="210741"/>
          </a:xfrm>
          <a:prstGeom prst="rect">
            <a:avLst/>
          </a:prstGeom>
          <a:noFill/>
          <a:ln/>
        </p:spPr>
        <p:txBody>
          <a:bodyPr wrap="none" lIns="100013" tIns="28575" rIns="100013" bIns="28575" rtlCol="0" anchor="ctr"/>
          <a:lstStyle/>
          <a:p>
            <a:pPr algn="ctr" indent="0" marL="0">
              <a:lnSpc>
                <a:spcPts val="1097"/>
              </a:lnSpc>
              <a:buNone/>
            </a:pPr>
            <a:r>
              <a:rPr lang="en-US" sz="800" dirty="0">
                <a:solidFill>
                  <a:srgbClr val="00C9A7"/>
                </a:solidFill>
                <a:latin typeface="Carlito" pitchFamily="34" charset="0"/>
                <a:ea typeface="Carlito" pitchFamily="34" charset="-122"/>
                <a:cs typeface="Carlito" pitchFamily="34" charset="-120"/>
              </a:rPr>
              <a:t>Decision Support</a:t>
            </a:r>
            <a:endParaRPr lang="en-US" sz="800" dirty="0"/>
          </a:p>
        </p:txBody>
      </p:sp>
      <p:sp>
        <p:nvSpPr>
          <p:cNvPr id="12" name="Text 10"/>
          <p:cNvSpPr/>
          <p:nvPr/>
        </p:nvSpPr>
        <p:spPr>
          <a:xfrm>
            <a:off x="1648778" y="2539014"/>
            <a:ext cx="719465" cy="236030"/>
          </a:xfrm>
          <a:prstGeom prst="roundRect">
            <a:avLst>
              <a:gd name="adj" fmla="val 4031468"/>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3" name="Text 11"/>
          <p:cNvSpPr/>
          <p:nvPr/>
        </p:nvSpPr>
        <p:spPr>
          <a:xfrm>
            <a:off x="1671638" y="2551658"/>
            <a:ext cx="673745" cy="210741"/>
          </a:xfrm>
          <a:prstGeom prst="rect">
            <a:avLst/>
          </a:prstGeom>
          <a:noFill/>
          <a:ln/>
        </p:spPr>
        <p:txBody>
          <a:bodyPr wrap="none" lIns="100013" tIns="28575" rIns="100013" bIns="28575" rtlCol="0" anchor="ctr"/>
          <a:lstStyle/>
          <a:p>
            <a:pPr algn="ctr" indent="0" marL="0">
              <a:lnSpc>
                <a:spcPts val="1097"/>
              </a:lnSpc>
              <a:buNone/>
            </a:pPr>
            <a:r>
              <a:rPr lang="en-US" sz="800" dirty="0">
                <a:solidFill>
                  <a:srgbClr val="00C9A7"/>
                </a:solidFill>
                <a:latin typeface="Carlito" pitchFamily="34" charset="0"/>
                <a:ea typeface="Carlito" pitchFamily="34" charset="-122"/>
                <a:cs typeface="Carlito" pitchFamily="34" charset="-120"/>
              </a:rPr>
              <a:t>Care Plans</a:t>
            </a:r>
            <a:endParaRPr lang="en-US" sz="800" dirty="0"/>
          </a:p>
        </p:txBody>
      </p:sp>
      <p:sp>
        <p:nvSpPr>
          <p:cNvPr id="14" name="Text 12"/>
          <p:cNvSpPr/>
          <p:nvPr/>
        </p:nvSpPr>
        <p:spPr>
          <a:xfrm>
            <a:off x="2408247" y="2539014"/>
            <a:ext cx="1070625" cy="236030"/>
          </a:xfrm>
          <a:prstGeom prst="roundRect">
            <a:avLst>
              <a:gd name="adj" fmla="val 4031468"/>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5" name="Text 13"/>
          <p:cNvSpPr/>
          <p:nvPr/>
        </p:nvSpPr>
        <p:spPr>
          <a:xfrm>
            <a:off x="2431107" y="2551658"/>
            <a:ext cx="1024905" cy="210741"/>
          </a:xfrm>
          <a:prstGeom prst="rect">
            <a:avLst/>
          </a:prstGeom>
          <a:noFill/>
          <a:ln/>
        </p:spPr>
        <p:txBody>
          <a:bodyPr wrap="none" lIns="100013" tIns="28575" rIns="100013" bIns="28575" rtlCol="0" anchor="ctr"/>
          <a:lstStyle/>
          <a:p>
            <a:pPr algn="ctr" indent="0" marL="0">
              <a:lnSpc>
                <a:spcPts val="1097"/>
              </a:lnSpc>
              <a:buNone/>
            </a:pPr>
            <a:r>
              <a:rPr lang="en-US" sz="800" dirty="0">
                <a:solidFill>
                  <a:srgbClr val="00C9A7"/>
                </a:solidFill>
                <a:latin typeface="Carlito" pitchFamily="34" charset="0"/>
                <a:ea typeface="Carlito" pitchFamily="34" charset="-122"/>
                <a:cs typeface="Carlito" pitchFamily="34" charset="-120"/>
              </a:rPr>
              <a:t>Confidence Scoring</a:t>
            </a:r>
            <a:endParaRPr lang="en-US" sz="800" dirty="0"/>
          </a:p>
        </p:txBody>
      </p:sp>
      <p:sp>
        <p:nvSpPr>
          <p:cNvPr id="16" name="Text 14"/>
          <p:cNvSpPr/>
          <p:nvPr/>
        </p:nvSpPr>
        <p:spPr>
          <a:xfrm>
            <a:off x="6042385" y="1476524"/>
            <a:ext cx="2640732" cy="1489472"/>
          </a:xfrm>
          <a:prstGeom prst="roundRect">
            <a:avLst>
              <a:gd name="adj" fmla="val 10232"/>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7" name="Text 15"/>
          <p:cNvSpPr/>
          <p:nvPr/>
        </p:nvSpPr>
        <p:spPr>
          <a:xfrm>
            <a:off x="6249553" y="1683693"/>
            <a:ext cx="335756" cy="335756"/>
          </a:xfrm>
          <a:prstGeom prst="roundRect">
            <a:avLst>
              <a:gd name="adj" fmla="val 340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8" name="Text 16"/>
          <p:cNvSpPr/>
          <p:nvPr/>
        </p:nvSpPr>
        <p:spPr>
          <a:xfrm>
            <a:off x="6293130" y="1727269"/>
            <a:ext cx="248602" cy="248602"/>
          </a:xfrm>
          <a:prstGeom prst="rect">
            <a:avLst/>
          </a:prstGeom>
          <a:noFill/>
          <a:ln/>
        </p:spPr>
        <p:txBody>
          <a:bodyPr wrap="none" lIns="0" tIns="0" rIns="0" bIns="0" rtlCol="0" anchor="ctr"/>
          <a:lstStyle/>
          <a:p>
            <a:pPr algn="ctr" indent="0" marL="0">
              <a:buNone/>
            </a:pPr>
            <a:r>
              <a:rPr lang="en-US" sz="1688" dirty="0">
                <a:solidFill>
                  <a:srgbClr val="00C9A7"/>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6245982" y="2137321"/>
            <a:ext cx="2233538" cy="254603"/>
          </a:xfrm>
          <a:prstGeom prst="rect">
            <a:avLst/>
          </a:prstGeom>
          <a:noFill/>
          <a:ln/>
        </p:spPr>
        <p:txBody>
          <a:bodyPr wrap="none" lIns="0" tIns="0" rIns="0" bIns="0" rtlCol="0" anchor="t"/>
          <a:lstStyle/>
          <a:p>
            <a:pPr algn="l" indent="0" marL="0">
              <a:lnSpc>
                <a:spcPts val="1856"/>
              </a:lnSpc>
              <a:buNone/>
            </a:pPr>
            <a:r>
              <a:rPr lang="en-US" sz="1238" dirty="0">
                <a:solidFill>
                  <a:srgbClr val="FFFFFF"/>
                </a:solidFill>
                <a:latin typeface="Tinos" pitchFamily="34" charset="0"/>
                <a:ea typeface="Tinos" pitchFamily="34" charset="-122"/>
                <a:cs typeface="Tinos" pitchFamily="34" charset="-120"/>
              </a:rPr>
              <a:t>CareGrid</a:t>
            </a:r>
            <a:endParaRPr lang="en-US" sz="1238" dirty="0"/>
          </a:p>
        </p:txBody>
      </p:sp>
      <p:sp>
        <p:nvSpPr>
          <p:cNvPr id="20" name="Text 18"/>
          <p:cNvSpPr/>
          <p:nvPr/>
        </p:nvSpPr>
        <p:spPr>
          <a:xfrm>
            <a:off x="6245982" y="2430214"/>
            <a:ext cx="2233538" cy="332184"/>
          </a:xfrm>
          <a:prstGeom prst="rect">
            <a:avLst/>
          </a:prstGeom>
          <a:noFill/>
          <a:ln/>
        </p:spPr>
        <p:txBody>
          <a:bodyPr wrap="square" lIns="0" tIns="0" rIns="0" bIns="0" rtlCol="0" anchor="t"/>
          <a:lstStyle/>
          <a:p>
            <a:pPr algn="l" indent="0" marL="0">
              <a:lnSpc>
                <a:spcPts val="1308"/>
              </a:lnSpc>
              <a:buNone/>
            </a:pPr>
            <a:r>
              <a:rPr lang="en-US" sz="844" dirty="0">
                <a:solidFill>
                  <a:srgbClr val="FFFFFF">
                    <a:alpha val="70000"/>
                  </a:srgbClr>
                </a:solidFill>
                <a:latin typeface="Carlito" pitchFamily="34" charset="0"/>
                <a:ea typeface="Carlito" pitchFamily="34" charset="-122"/>
                <a:cs typeface="Carlito" pitchFamily="34" charset="-120"/>
              </a:rPr>
              <a:t>Inter-facility referral networks, teleconsultation, and knowledge sharing across facilities</a:t>
            </a:r>
            <a:endParaRPr lang="en-US" sz="844" dirty="0"/>
          </a:p>
        </p:txBody>
      </p:sp>
      <p:sp>
        <p:nvSpPr>
          <p:cNvPr id="21" name="Text 19"/>
          <p:cNvSpPr/>
          <p:nvPr/>
        </p:nvSpPr>
        <p:spPr>
          <a:xfrm>
            <a:off x="460772" y="3116014"/>
            <a:ext cx="2640732" cy="1655564"/>
          </a:xfrm>
          <a:prstGeom prst="roundRect">
            <a:avLst>
              <a:gd name="adj" fmla="val 9205"/>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22" name="Text 20"/>
          <p:cNvSpPr/>
          <p:nvPr/>
        </p:nvSpPr>
        <p:spPr>
          <a:xfrm>
            <a:off x="667941" y="3323183"/>
            <a:ext cx="335756" cy="335756"/>
          </a:xfrm>
          <a:prstGeom prst="roundRect">
            <a:avLst>
              <a:gd name="adj" fmla="val 340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23" name="Text 21"/>
          <p:cNvSpPr/>
          <p:nvPr/>
        </p:nvSpPr>
        <p:spPr>
          <a:xfrm>
            <a:off x="711518" y="3366760"/>
            <a:ext cx="248602" cy="248602"/>
          </a:xfrm>
          <a:prstGeom prst="rect">
            <a:avLst/>
          </a:prstGeom>
          <a:noFill/>
          <a:ln/>
        </p:spPr>
        <p:txBody>
          <a:bodyPr wrap="none" lIns="0" tIns="0" rIns="0" bIns="0" rtlCol="0" anchor="ctr"/>
          <a:lstStyle/>
          <a:p>
            <a:pPr algn="ctr" indent="0" marL="0">
              <a:buNone/>
            </a:pPr>
            <a:r>
              <a:rPr lang="en-US" sz="1688" dirty="0">
                <a:solidFill>
                  <a:srgbClr val="00C9A7"/>
                </a:solidFill>
                <a:latin typeface="Segoe UI Symbol" pitchFamily="34" charset="0"/>
                <a:ea typeface="Segoe UI Symbol" pitchFamily="34" charset="-122"/>
                <a:cs typeface="Segoe UI Symbol" pitchFamily="34" charset="-120"/>
              </a:rPr>
              <a:t>▦</a:t>
            </a:r>
            <a:endParaRPr lang="en-US" sz="1688" dirty="0"/>
          </a:p>
        </p:txBody>
      </p:sp>
      <p:sp>
        <p:nvSpPr>
          <p:cNvPr id="24" name="Text 22"/>
          <p:cNvSpPr/>
          <p:nvPr/>
        </p:nvSpPr>
        <p:spPr>
          <a:xfrm>
            <a:off x="664369" y="3776811"/>
            <a:ext cx="2233538" cy="254603"/>
          </a:xfrm>
          <a:prstGeom prst="rect">
            <a:avLst/>
          </a:prstGeom>
          <a:noFill/>
          <a:ln/>
        </p:spPr>
        <p:txBody>
          <a:bodyPr wrap="none" lIns="0" tIns="0" rIns="0" bIns="0" rtlCol="0" anchor="t"/>
          <a:lstStyle/>
          <a:p>
            <a:pPr algn="l" indent="0" marL="0">
              <a:lnSpc>
                <a:spcPts val="1856"/>
              </a:lnSpc>
              <a:buNone/>
            </a:pPr>
            <a:r>
              <a:rPr lang="en-US" sz="1238" dirty="0">
                <a:solidFill>
                  <a:srgbClr val="FFFFFF"/>
                </a:solidFill>
                <a:latin typeface="Tinos" pitchFamily="34" charset="0"/>
                <a:ea typeface="Tinos" pitchFamily="34" charset="-122"/>
                <a:cs typeface="Tinos" pitchFamily="34" charset="-120"/>
              </a:rPr>
              <a:t>NurseAnalytics</a:t>
            </a:r>
            <a:endParaRPr lang="en-US" sz="1238" dirty="0"/>
          </a:p>
        </p:txBody>
      </p:sp>
      <p:sp>
        <p:nvSpPr>
          <p:cNvPr id="25" name="Text 23"/>
          <p:cNvSpPr/>
          <p:nvPr/>
        </p:nvSpPr>
        <p:spPr>
          <a:xfrm>
            <a:off x="664369" y="4069705"/>
            <a:ext cx="2233538" cy="498277"/>
          </a:xfrm>
          <a:prstGeom prst="rect">
            <a:avLst/>
          </a:prstGeom>
          <a:noFill/>
          <a:ln/>
        </p:spPr>
        <p:txBody>
          <a:bodyPr wrap="square" lIns="0" tIns="0" rIns="0" bIns="0" rtlCol="0" anchor="t"/>
          <a:lstStyle/>
          <a:p>
            <a:pPr algn="l" indent="0" marL="0">
              <a:lnSpc>
                <a:spcPts val="1308"/>
              </a:lnSpc>
              <a:buNone/>
            </a:pPr>
            <a:r>
              <a:rPr lang="en-US" sz="844" dirty="0">
                <a:solidFill>
                  <a:srgbClr val="FFFFFF">
                    <a:alpha val="70000"/>
                  </a:srgbClr>
                </a:solidFill>
                <a:latin typeface="Carlito" pitchFamily="34" charset="0"/>
                <a:ea typeface="Carlito" pitchFamily="34" charset="-122"/>
                <a:cs typeface="Carlito" pitchFamily="34" charset="-120"/>
              </a:rPr>
              <a:t>Real-time facility analytics, disease surveillance, staffing predictions, and AI-driven insights</a:t>
            </a:r>
            <a:endParaRPr lang="en-US" sz="844" dirty="0"/>
          </a:p>
        </p:txBody>
      </p:sp>
      <p:sp>
        <p:nvSpPr>
          <p:cNvPr id="26" name="Text 24"/>
          <p:cNvSpPr/>
          <p:nvPr/>
        </p:nvSpPr>
        <p:spPr>
          <a:xfrm>
            <a:off x="3251522" y="3116014"/>
            <a:ext cx="2640843" cy="1655564"/>
          </a:xfrm>
          <a:prstGeom prst="roundRect">
            <a:avLst>
              <a:gd name="adj" fmla="val 9205"/>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27" name="Text 25"/>
          <p:cNvSpPr/>
          <p:nvPr/>
        </p:nvSpPr>
        <p:spPr>
          <a:xfrm>
            <a:off x="3458691" y="3323183"/>
            <a:ext cx="335756" cy="335756"/>
          </a:xfrm>
          <a:prstGeom prst="roundRect">
            <a:avLst>
              <a:gd name="adj" fmla="val 340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28" name="Text 26"/>
          <p:cNvSpPr/>
          <p:nvPr/>
        </p:nvSpPr>
        <p:spPr>
          <a:xfrm>
            <a:off x="3502268" y="3366760"/>
            <a:ext cx="248602" cy="248602"/>
          </a:xfrm>
          <a:prstGeom prst="rect">
            <a:avLst/>
          </a:prstGeom>
          <a:noFill/>
          <a:ln/>
        </p:spPr>
        <p:txBody>
          <a:bodyPr wrap="none" lIns="0" tIns="0" rIns="0" bIns="0" rtlCol="0" anchor="ctr"/>
          <a:lstStyle/>
          <a:p>
            <a:pPr algn="ctr" indent="0" marL="0">
              <a:buNone/>
            </a:pPr>
            <a:r>
              <a:rPr lang="en-US" sz="1688" dirty="0">
                <a:solidFill>
                  <a:srgbClr val="00C9A7"/>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3455119" y="3776811"/>
            <a:ext cx="2233650" cy="254603"/>
          </a:xfrm>
          <a:prstGeom prst="rect">
            <a:avLst/>
          </a:prstGeom>
          <a:noFill/>
          <a:ln/>
        </p:spPr>
        <p:txBody>
          <a:bodyPr wrap="none" lIns="0" tIns="0" rIns="0" bIns="0" rtlCol="0" anchor="t"/>
          <a:lstStyle/>
          <a:p>
            <a:pPr algn="l" indent="0" marL="0">
              <a:lnSpc>
                <a:spcPts val="1856"/>
              </a:lnSpc>
              <a:buNone/>
            </a:pPr>
            <a:r>
              <a:rPr lang="en-US" sz="1238" dirty="0">
                <a:solidFill>
                  <a:srgbClr val="FFFFFF"/>
                </a:solidFill>
                <a:latin typeface="Tinos" pitchFamily="34" charset="0"/>
                <a:ea typeface="Tinos" pitchFamily="34" charset="-122"/>
                <a:cs typeface="Tinos" pitchFamily="34" charset="-120"/>
              </a:rPr>
              <a:t>NurseID</a:t>
            </a:r>
            <a:endParaRPr lang="en-US" sz="1238" dirty="0"/>
          </a:p>
        </p:txBody>
      </p:sp>
      <p:sp>
        <p:nvSpPr>
          <p:cNvPr id="30" name="Text 28"/>
          <p:cNvSpPr/>
          <p:nvPr/>
        </p:nvSpPr>
        <p:spPr>
          <a:xfrm>
            <a:off x="3455119" y="4069705"/>
            <a:ext cx="2233650" cy="498277"/>
          </a:xfrm>
          <a:prstGeom prst="rect">
            <a:avLst/>
          </a:prstGeom>
          <a:noFill/>
          <a:ln/>
        </p:spPr>
        <p:txBody>
          <a:bodyPr wrap="square" lIns="0" tIns="0" rIns="0" bIns="0" rtlCol="0" anchor="t"/>
          <a:lstStyle/>
          <a:p>
            <a:pPr algn="l" indent="0" marL="0">
              <a:lnSpc>
                <a:spcPts val="1308"/>
              </a:lnSpc>
              <a:buNone/>
            </a:pPr>
            <a:r>
              <a:rPr lang="en-US" sz="844" dirty="0">
                <a:solidFill>
                  <a:srgbClr val="FFFFFF">
                    <a:alpha val="70000"/>
                  </a:srgbClr>
                </a:solidFill>
                <a:latin typeface="Carlito" pitchFamily="34" charset="0"/>
                <a:ea typeface="Carlito" pitchFamily="34" charset="-122"/>
                <a:cs typeface="Carlito" pitchFamily="34" charset="-120"/>
              </a:rPr>
              <a:t>Digital credentialing, competency tracking, professional portfolio, and CPD management</a:t>
            </a:r>
            <a:endParaRPr lang="en-US" sz="844" dirty="0"/>
          </a:p>
        </p:txBody>
      </p:sp>
      <p:sp>
        <p:nvSpPr>
          <p:cNvPr id="31" name="Text 29"/>
          <p:cNvSpPr/>
          <p:nvPr/>
        </p:nvSpPr>
        <p:spPr>
          <a:xfrm>
            <a:off x="6042385" y="3116014"/>
            <a:ext cx="2640732" cy="1655564"/>
          </a:xfrm>
          <a:prstGeom prst="roundRect">
            <a:avLst>
              <a:gd name="adj" fmla="val 9205"/>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32" name="Text 30"/>
          <p:cNvSpPr/>
          <p:nvPr/>
        </p:nvSpPr>
        <p:spPr>
          <a:xfrm>
            <a:off x="6249553" y="3323183"/>
            <a:ext cx="335756" cy="335756"/>
          </a:xfrm>
          <a:prstGeom prst="roundRect">
            <a:avLst>
              <a:gd name="adj" fmla="val 3404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33" name="Text 31"/>
          <p:cNvSpPr/>
          <p:nvPr/>
        </p:nvSpPr>
        <p:spPr>
          <a:xfrm>
            <a:off x="6293130" y="3366760"/>
            <a:ext cx="248602" cy="248602"/>
          </a:xfrm>
          <a:prstGeom prst="rect">
            <a:avLst/>
          </a:prstGeom>
          <a:noFill/>
          <a:ln/>
        </p:spPr>
        <p:txBody>
          <a:bodyPr wrap="none" lIns="0" tIns="0" rIns="0" bIns="0" rtlCol="0" anchor="ctr"/>
          <a:lstStyle/>
          <a:p>
            <a:pPr algn="ctr" indent="0" marL="0">
              <a:buNone/>
            </a:pPr>
            <a:r>
              <a:rPr lang="en-US" sz="1688" dirty="0">
                <a:solidFill>
                  <a:srgbClr val="00C9A7"/>
                </a:solidFill>
                <a:latin typeface="Segoe UI Symbol" pitchFamily="34" charset="0"/>
                <a:ea typeface="Segoe UI Symbol" pitchFamily="34" charset="-122"/>
                <a:cs typeface="Segoe UI Symbol" pitchFamily="34" charset="-120"/>
              </a:rPr>
              <a:t>▿</a:t>
            </a:r>
            <a:endParaRPr lang="en-US" sz="1688" dirty="0"/>
          </a:p>
        </p:txBody>
      </p:sp>
      <p:sp>
        <p:nvSpPr>
          <p:cNvPr id="34" name="Text 32"/>
          <p:cNvSpPr/>
          <p:nvPr/>
        </p:nvSpPr>
        <p:spPr>
          <a:xfrm>
            <a:off x="6245982" y="3776811"/>
            <a:ext cx="2233538" cy="254603"/>
          </a:xfrm>
          <a:prstGeom prst="rect">
            <a:avLst/>
          </a:prstGeom>
          <a:noFill/>
          <a:ln/>
        </p:spPr>
        <p:txBody>
          <a:bodyPr wrap="none" lIns="0" tIns="0" rIns="0" bIns="0" rtlCol="0" anchor="t"/>
          <a:lstStyle/>
          <a:p>
            <a:pPr algn="l" indent="0" marL="0">
              <a:lnSpc>
                <a:spcPts val="1856"/>
              </a:lnSpc>
              <a:buNone/>
            </a:pPr>
            <a:r>
              <a:rPr lang="en-US" sz="1238" dirty="0">
                <a:solidFill>
                  <a:srgbClr val="FFFFFF"/>
                </a:solidFill>
                <a:latin typeface="Tinos" pitchFamily="34" charset="0"/>
                <a:ea typeface="Tinos" pitchFamily="34" charset="-122"/>
                <a:cs typeface="Tinos" pitchFamily="34" charset="-120"/>
              </a:rPr>
              <a:t>NurseAcademy</a:t>
            </a:r>
            <a:endParaRPr lang="en-US" sz="1238" dirty="0"/>
          </a:p>
        </p:txBody>
      </p:sp>
      <p:sp>
        <p:nvSpPr>
          <p:cNvPr id="35" name="Text 33"/>
          <p:cNvSpPr/>
          <p:nvPr/>
        </p:nvSpPr>
        <p:spPr>
          <a:xfrm>
            <a:off x="6245982" y="4069705"/>
            <a:ext cx="2233538" cy="498277"/>
          </a:xfrm>
          <a:prstGeom prst="rect">
            <a:avLst/>
          </a:prstGeom>
          <a:noFill/>
          <a:ln/>
        </p:spPr>
        <p:txBody>
          <a:bodyPr wrap="square" lIns="0" tIns="0" rIns="0" bIns="0" rtlCol="0" anchor="t"/>
          <a:lstStyle/>
          <a:p>
            <a:pPr algn="l" indent="0" marL="0">
              <a:lnSpc>
                <a:spcPts val="1308"/>
              </a:lnSpc>
              <a:buNone/>
            </a:pPr>
            <a:r>
              <a:rPr lang="en-US" sz="844" dirty="0">
                <a:solidFill>
                  <a:srgbClr val="FFFFFF">
                    <a:alpha val="70000"/>
                  </a:srgbClr>
                </a:solidFill>
                <a:latin typeface="Carlito" pitchFamily="34" charset="0"/>
                <a:ea typeface="Carlito" pitchFamily="34" charset="-122"/>
                <a:cs typeface="Carlito" pitchFamily="34" charset="-120"/>
              </a:rPr>
              <a:t>CPD-accredited courses, clinical simulations with AI feedback, and certification management</a:t>
            </a:r>
            <a:endParaRPr lang="en-US" sz="84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51460" y="698860"/>
            <a:ext cx="8636000" cy="388776"/>
          </a:xfrm>
          <a:prstGeom prst="rect">
            <a:avLst/>
          </a:prstGeom>
          <a:noFill/>
          <a:ln/>
        </p:spPr>
        <p:txBody>
          <a:bodyPr wrap="none" lIns="0" tIns="0" rIns="0" bIns="0" rtlCol="0" anchor="t"/>
          <a:lstStyle/>
          <a:p>
            <a:pPr algn="ctr" indent="0" marL="0">
              <a:lnSpc>
                <a:spcPts val="2835"/>
              </a:lnSpc>
              <a:buNone/>
            </a:pPr>
            <a:r>
              <a:rPr lang="en-US" sz="2363" dirty="0">
                <a:solidFill>
                  <a:srgbClr val="FFFFFF"/>
                </a:solidFill>
                <a:latin typeface="Tinos" pitchFamily="34" charset="0"/>
                <a:ea typeface="Tinos" pitchFamily="34" charset="-122"/>
                <a:cs typeface="Tinos" pitchFamily="34" charset="-120"/>
              </a:rPr>
              <a:t>Impact That Matters</a:t>
            </a:r>
            <a:endParaRPr lang="en-US" sz="2363" dirty="0"/>
          </a:p>
        </p:txBody>
      </p:sp>
      <p:sp>
        <p:nvSpPr>
          <p:cNvPr id="3" name="Text 1"/>
          <p:cNvSpPr/>
          <p:nvPr/>
        </p:nvSpPr>
        <p:spPr>
          <a:xfrm>
            <a:off x="460772" y="1348160"/>
            <a:ext cx="2621756" cy="2328528"/>
          </a:xfrm>
          <a:prstGeom prst="roundRect">
            <a:avLst>
              <a:gd name="adj" fmla="val 6545"/>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4" name="Text 2"/>
          <p:cNvSpPr/>
          <p:nvPr/>
        </p:nvSpPr>
        <p:spPr>
          <a:xfrm>
            <a:off x="667941" y="1583903"/>
            <a:ext cx="392906" cy="392906"/>
          </a:xfrm>
          <a:prstGeom prst="roundRect">
            <a:avLst>
              <a:gd name="adj" fmla="val 33939"/>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5" name="Text 3"/>
          <p:cNvSpPr/>
          <p:nvPr/>
        </p:nvSpPr>
        <p:spPr>
          <a:xfrm>
            <a:off x="719376" y="1635338"/>
            <a:ext cx="290036" cy="290036"/>
          </a:xfrm>
          <a:prstGeom prst="rect">
            <a:avLst/>
          </a:prstGeom>
          <a:noFill/>
          <a:ln/>
        </p:spPr>
        <p:txBody>
          <a:bodyPr wrap="none" lIns="0" tIns="0" rIns="0" bIns="0" rtlCol="0" anchor="ctr"/>
          <a:lstStyle/>
          <a:p>
            <a:pPr algn="ctr" indent="0" marL="0">
              <a:buNone/>
            </a:pPr>
            <a:r>
              <a:rPr lang="en-US" sz="1969" dirty="0">
                <a:solidFill>
                  <a:srgbClr val="00C9A7"/>
                </a:solidFill>
                <a:latin typeface="Segoe UI Symbol" pitchFamily="34" charset="0"/>
                <a:ea typeface="Segoe UI Symbol" pitchFamily="34" charset="-122"/>
                <a:cs typeface="Segoe UI Symbol" pitchFamily="34" charset="-120"/>
              </a:rPr>
              <a:t>✚</a:t>
            </a:r>
            <a:endParaRPr lang="en-US" sz="1969" dirty="0"/>
          </a:p>
        </p:txBody>
      </p:sp>
      <p:sp>
        <p:nvSpPr>
          <p:cNvPr id="6" name="Text 4"/>
          <p:cNvSpPr/>
          <p:nvPr/>
        </p:nvSpPr>
        <p:spPr>
          <a:xfrm>
            <a:off x="664369" y="2123256"/>
            <a:ext cx="1029945" cy="300895"/>
          </a:xfrm>
          <a:prstGeom prst="rect">
            <a:avLst/>
          </a:prstGeom>
          <a:noFill/>
          <a:ln/>
        </p:spPr>
        <p:txBody>
          <a:bodyPr wrap="none" lIns="0" tIns="0" rIns="0" bIns="0" rtlCol="0" anchor="t"/>
          <a:lstStyle/>
          <a:p>
            <a:pPr algn="l" indent="0" marL="0">
              <a:lnSpc>
                <a:spcPts val="2194"/>
              </a:lnSpc>
              <a:buNone/>
            </a:pPr>
            <a:r>
              <a:rPr lang="en-US" sz="1463" dirty="0">
                <a:solidFill>
                  <a:srgbClr val="FFFFFF"/>
                </a:solidFill>
                <a:latin typeface="Tinos" pitchFamily="34" charset="0"/>
                <a:ea typeface="Tinos" pitchFamily="34" charset="-122"/>
                <a:cs typeface="Tinos" pitchFamily="34" charset="-120"/>
              </a:rPr>
              <a:t>For Nurses</a:t>
            </a:r>
            <a:endParaRPr lang="en-US" sz="1463" dirty="0"/>
          </a:p>
        </p:txBody>
      </p:sp>
      <p:sp>
        <p:nvSpPr>
          <p:cNvPr id="7" name="Text 5"/>
          <p:cNvSpPr/>
          <p:nvPr/>
        </p:nvSpPr>
        <p:spPr>
          <a:xfrm>
            <a:off x="664369" y="2501875"/>
            <a:ext cx="2214563" cy="814441"/>
          </a:xfrm>
          <a:prstGeom prst="rect">
            <a:avLst/>
          </a:prstGeom>
          <a:noFill/>
          <a:ln/>
        </p:spPr>
        <p:txBody>
          <a:bodyPr wrap="square" lIns="0" tIns="0" rIns="0" bIns="0" rtlCol="0" anchor="t"/>
          <a:lstStyle/>
          <a:p>
            <a:pPr algn="l" indent="0" marL="0">
              <a:lnSpc>
                <a:spcPts val="1485"/>
              </a:lnSpc>
              <a:buNone/>
            </a:pPr>
            <a:r>
              <a:rPr lang="en-US" sz="900" dirty="0">
                <a:solidFill>
                  <a:srgbClr val="FFFFFF">
                    <a:alpha val="70000"/>
                  </a:srgbClr>
                </a:solidFill>
                <a:latin typeface="Carlito" pitchFamily="34" charset="0"/>
                <a:ea typeface="Carlito" pitchFamily="34" charset="-122"/>
                <a:cs typeface="Carlito" pitchFamily="34" charset="-120"/>
              </a:rPr>
              <a:t>Reduced burnout through AI-assisted workflows, continuous professional development, and digital credentialing that elevates careers beyond the bedside</a:t>
            </a:r>
            <a:endParaRPr lang="en-US" sz="900" dirty="0"/>
          </a:p>
        </p:txBody>
      </p:sp>
      <p:sp>
        <p:nvSpPr>
          <p:cNvPr id="8" name="Text 6"/>
          <p:cNvSpPr/>
          <p:nvPr/>
        </p:nvSpPr>
        <p:spPr>
          <a:xfrm>
            <a:off x="3261122" y="1348160"/>
            <a:ext cx="2621756" cy="2328528"/>
          </a:xfrm>
          <a:prstGeom prst="roundRect">
            <a:avLst>
              <a:gd name="adj" fmla="val 6545"/>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3468291" y="1583903"/>
            <a:ext cx="392906" cy="392906"/>
          </a:xfrm>
          <a:prstGeom prst="roundRect">
            <a:avLst>
              <a:gd name="adj" fmla="val 33939"/>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0" name="Text 8"/>
          <p:cNvSpPr/>
          <p:nvPr/>
        </p:nvSpPr>
        <p:spPr>
          <a:xfrm>
            <a:off x="3519726" y="1635338"/>
            <a:ext cx="290036" cy="290036"/>
          </a:xfrm>
          <a:prstGeom prst="rect">
            <a:avLst/>
          </a:prstGeom>
          <a:noFill/>
          <a:ln/>
        </p:spPr>
        <p:txBody>
          <a:bodyPr wrap="none" lIns="0" tIns="0" rIns="0" bIns="0" rtlCol="0" anchor="ctr"/>
          <a:lstStyle/>
          <a:p>
            <a:pPr algn="ctr" indent="0" marL="0">
              <a:buNone/>
            </a:pPr>
            <a:r>
              <a:rPr lang="en-US" sz="1969" dirty="0">
                <a:solidFill>
                  <a:srgbClr val="00C9A7"/>
                </a:solidFill>
                <a:latin typeface="Segoe UI Symbol" pitchFamily="34" charset="0"/>
                <a:ea typeface="Segoe UI Symbol" pitchFamily="34" charset="-122"/>
                <a:cs typeface="Segoe UI Symbol" pitchFamily="34" charset="-120"/>
              </a:rPr>
              <a:t>♥</a:t>
            </a:r>
            <a:endParaRPr lang="en-US" sz="1969" dirty="0"/>
          </a:p>
        </p:txBody>
      </p:sp>
      <p:sp>
        <p:nvSpPr>
          <p:cNvPr id="11" name="Text 9"/>
          <p:cNvSpPr/>
          <p:nvPr/>
        </p:nvSpPr>
        <p:spPr>
          <a:xfrm>
            <a:off x="3464719" y="2123256"/>
            <a:ext cx="1138657" cy="300895"/>
          </a:xfrm>
          <a:prstGeom prst="rect">
            <a:avLst/>
          </a:prstGeom>
          <a:noFill/>
          <a:ln/>
        </p:spPr>
        <p:txBody>
          <a:bodyPr wrap="square" lIns="0" tIns="0" rIns="0" bIns="0" rtlCol="0" anchor="t"/>
          <a:lstStyle/>
          <a:p>
            <a:pPr algn="l" indent="0" marL="0">
              <a:lnSpc>
                <a:spcPts val="2194"/>
              </a:lnSpc>
              <a:buNone/>
            </a:pPr>
            <a:r>
              <a:rPr lang="en-US" sz="1463" dirty="0">
                <a:solidFill>
                  <a:srgbClr val="FFFFFF"/>
                </a:solidFill>
                <a:latin typeface="Tinos" pitchFamily="34" charset="0"/>
                <a:ea typeface="Tinos" pitchFamily="34" charset="-122"/>
                <a:cs typeface="Tinos" pitchFamily="34" charset="-120"/>
              </a:rPr>
              <a:t>For Patients</a:t>
            </a:r>
            <a:endParaRPr lang="en-US" sz="1463" dirty="0"/>
          </a:p>
        </p:txBody>
      </p:sp>
      <p:sp>
        <p:nvSpPr>
          <p:cNvPr id="12" name="Text 10"/>
          <p:cNvSpPr/>
          <p:nvPr/>
        </p:nvSpPr>
        <p:spPr>
          <a:xfrm>
            <a:off x="3464719" y="2501875"/>
            <a:ext cx="2214563" cy="814441"/>
          </a:xfrm>
          <a:prstGeom prst="rect">
            <a:avLst/>
          </a:prstGeom>
          <a:noFill/>
          <a:ln/>
        </p:spPr>
        <p:txBody>
          <a:bodyPr wrap="square" lIns="0" tIns="0" rIns="0" bIns="0" rtlCol="0" anchor="t"/>
          <a:lstStyle/>
          <a:p>
            <a:pPr algn="l" indent="0" marL="0">
              <a:lnSpc>
                <a:spcPts val="1485"/>
              </a:lnSpc>
              <a:buNone/>
            </a:pPr>
            <a:r>
              <a:rPr lang="en-US" sz="900" dirty="0">
                <a:solidFill>
                  <a:srgbClr val="FFFFFF">
                    <a:alpha val="70000"/>
                  </a:srgbClr>
                </a:solidFill>
                <a:latin typeface="Carlito" pitchFamily="34" charset="0"/>
                <a:ea typeface="Carlito" pitchFamily="34" charset="-122"/>
                <a:cs typeface="Carlito" pitchFamily="34" charset="-120"/>
              </a:rPr>
              <a:t>Safer care through early warning systems, coordinated referrals, and evidence-based clinical decision support that catches what humans might miss</a:t>
            </a:r>
            <a:endParaRPr lang="en-US" sz="900" dirty="0"/>
          </a:p>
        </p:txBody>
      </p:sp>
      <p:sp>
        <p:nvSpPr>
          <p:cNvPr id="13" name="Text 11"/>
          <p:cNvSpPr/>
          <p:nvPr/>
        </p:nvSpPr>
        <p:spPr>
          <a:xfrm>
            <a:off x="6061472" y="1348160"/>
            <a:ext cx="2621756" cy="2328528"/>
          </a:xfrm>
          <a:prstGeom prst="roundRect">
            <a:avLst>
              <a:gd name="adj" fmla="val 6545"/>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4" name="Text 12"/>
          <p:cNvSpPr/>
          <p:nvPr/>
        </p:nvSpPr>
        <p:spPr>
          <a:xfrm>
            <a:off x="6268641" y="1583903"/>
            <a:ext cx="392906" cy="392906"/>
          </a:xfrm>
          <a:prstGeom prst="roundRect">
            <a:avLst>
              <a:gd name="adj" fmla="val 33939"/>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5" name="Text 13"/>
          <p:cNvSpPr/>
          <p:nvPr/>
        </p:nvSpPr>
        <p:spPr>
          <a:xfrm>
            <a:off x="6320076" y="1635338"/>
            <a:ext cx="290036" cy="290036"/>
          </a:xfrm>
          <a:prstGeom prst="rect">
            <a:avLst/>
          </a:prstGeom>
          <a:noFill/>
          <a:ln/>
        </p:spPr>
        <p:txBody>
          <a:bodyPr wrap="none" lIns="0" tIns="0" rIns="0" bIns="0" rtlCol="0" anchor="ctr"/>
          <a:lstStyle/>
          <a:p>
            <a:pPr algn="ctr" indent="0" marL="0">
              <a:buNone/>
            </a:pPr>
            <a:r>
              <a:rPr lang="en-US" sz="1969" dirty="0">
                <a:solidFill>
                  <a:srgbClr val="00C9A7"/>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6265069" y="2123256"/>
            <a:ext cx="1223166" cy="300895"/>
          </a:xfrm>
          <a:prstGeom prst="rect">
            <a:avLst/>
          </a:prstGeom>
          <a:noFill/>
          <a:ln/>
        </p:spPr>
        <p:txBody>
          <a:bodyPr wrap="square" lIns="0" tIns="0" rIns="0" bIns="0" rtlCol="0" anchor="t"/>
          <a:lstStyle/>
          <a:p>
            <a:pPr algn="l" indent="0" marL="0">
              <a:lnSpc>
                <a:spcPts val="2194"/>
              </a:lnSpc>
              <a:buNone/>
            </a:pPr>
            <a:r>
              <a:rPr lang="en-US" sz="1463" dirty="0">
                <a:solidFill>
                  <a:srgbClr val="FFFFFF"/>
                </a:solidFill>
                <a:latin typeface="Tinos" pitchFamily="34" charset="0"/>
                <a:ea typeface="Tinos" pitchFamily="34" charset="-122"/>
                <a:cs typeface="Tinos" pitchFamily="34" charset="-120"/>
              </a:rPr>
              <a:t>For Facilities</a:t>
            </a:r>
            <a:endParaRPr lang="en-US" sz="1463" dirty="0"/>
          </a:p>
        </p:txBody>
      </p:sp>
      <p:sp>
        <p:nvSpPr>
          <p:cNvPr id="17" name="Text 15"/>
          <p:cNvSpPr/>
          <p:nvPr/>
        </p:nvSpPr>
        <p:spPr>
          <a:xfrm>
            <a:off x="6265069" y="2501875"/>
            <a:ext cx="2214563" cy="942640"/>
          </a:xfrm>
          <a:prstGeom prst="rect">
            <a:avLst/>
          </a:prstGeom>
          <a:noFill/>
          <a:ln/>
        </p:spPr>
        <p:txBody>
          <a:bodyPr wrap="square" lIns="0" tIns="0" rIns="0" bIns="0" rtlCol="0" anchor="t"/>
          <a:lstStyle/>
          <a:p>
            <a:pPr algn="l" indent="0" marL="0">
              <a:lnSpc>
                <a:spcPts val="1485"/>
              </a:lnSpc>
              <a:buNone/>
            </a:pPr>
            <a:r>
              <a:rPr lang="en-US" sz="900" dirty="0">
                <a:solidFill>
                  <a:srgbClr val="FFFFFF">
                    <a:alpha val="70000"/>
                  </a:srgbClr>
                </a:solidFill>
                <a:latin typeface="Carlito" pitchFamily="34" charset="0"/>
                <a:ea typeface="Carlito" pitchFamily="34" charset="-122"/>
                <a:cs typeface="Carlito" pitchFamily="34" charset="-120"/>
              </a:rPr>
              <a:t>Improved outcomes, optimized staffing through predictive analytics, reduced medication errors, and regulatory compliance through automated documentation</a:t>
            </a:r>
            <a:endParaRPr lang="en-US" sz="900" dirty="0"/>
          </a:p>
        </p:txBody>
      </p:sp>
      <p:sp>
        <p:nvSpPr>
          <p:cNvPr id="18" name="Text 16"/>
          <p:cNvSpPr/>
          <p:nvPr/>
        </p:nvSpPr>
        <p:spPr>
          <a:xfrm>
            <a:off x="460772" y="3912431"/>
            <a:ext cx="8222456" cy="528638"/>
          </a:xfrm>
          <a:prstGeom prst="roundRect">
            <a:avLst>
              <a:gd name="adj" fmla="val 21622"/>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9" name="Text 17"/>
          <p:cNvSpPr/>
          <p:nvPr/>
        </p:nvSpPr>
        <p:spPr>
          <a:xfrm>
            <a:off x="750094" y="4058878"/>
            <a:ext cx="7753540" cy="235744"/>
          </a:xfrm>
          <a:prstGeom prst="rect">
            <a:avLst/>
          </a:prstGeom>
          <a:noFill/>
          <a:ln/>
        </p:spPr>
        <p:txBody>
          <a:bodyPr wrap="square" lIns="0" tIns="0" rIns="0" bIns="0" rtlCol="0" anchor="t"/>
          <a:lstStyle/>
          <a:p>
            <a:pPr algn="ctr" indent="0" marL="0">
              <a:lnSpc>
                <a:spcPts val="1856"/>
              </a:lnSpc>
              <a:buNone/>
            </a:pPr>
            <a:r>
              <a:rPr lang="en-US" sz="1238" i="1" spc="25" kern="0" dirty="0">
                <a:solidFill>
                  <a:srgbClr val="00C9A7"/>
                </a:solidFill>
                <a:latin typeface="Tinos" pitchFamily="34" charset="0"/>
                <a:ea typeface="Tinos" pitchFamily="34" charset="-122"/>
                <a:cs typeface="Tinos" pitchFamily="34" charset="-120"/>
              </a:rPr>
              <a:t>"Nursing is Beyond the Bedside."</a:t>
            </a:r>
            <a:endParaRPr lang="en-US" sz="1238" dirty="0"/>
          </a:p>
        </p:txBody>
      </p:sp>
      <p:sp>
        <p:nvSpPr>
          <p:cNvPr id="20" name="Text 18"/>
          <p:cNvSpPr/>
          <p:nvPr/>
        </p:nvSpPr>
        <p:spPr>
          <a:xfrm>
            <a:off x="2786063" y="3714750"/>
            <a:ext cx="3571875" cy="2143125"/>
          </a:xfrm>
          <a:prstGeom prst="roundRect">
            <a:avLst>
              <a:gd name="adj" fmla="val 42667"/>
            </a:avLst>
          </a:prstGeom>
          <a:solidFill>
            <a:srgbClr val="FFFFFF">
              <a:alpha val="0"/>
            </a:srgbClr>
          </a:solidFill>
          <a:ln/>
        </p:spPr>
        <p:txBody>
          <a:bodyPr wrap="square"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pic>
        <p:nvPicPr>
          <p:cNvPr id="2" name="Image 0" descr="/tmp/h2p-fit-1781435415874-ceilnp.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274320" y="1199815"/>
            <a:ext cx="8595248" cy="461348"/>
          </a:xfrm>
          <a:prstGeom prst="rect">
            <a:avLst/>
          </a:prstGeom>
          <a:noFill/>
          <a:ln/>
        </p:spPr>
        <p:txBody>
          <a:bodyPr wrap="square" lIns="0" tIns="0" rIns="0" bIns="0" rtlCol="0" anchor="t"/>
          <a:lstStyle/>
          <a:p>
            <a:pPr algn="ctr" indent="0" marL="0">
              <a:lnSpc>
                <a:spcPts val="3364"/>
              </a:lnSpc>
              <a:buNone/>
            </a:pPr>
            <a:r>
              <a:rPr lang="en-US" sz="2925" b="1" dirty="0">
                <a:solidFill>
                  <a:srgbClr val="FFFFFF"/>
                </a:solidFill>
                <a:latin typeface="Tinos" pitchFamily="34" charset="0"/>
                <a:ea typeface="Tinos" pitchFamily="34" charset="-122"/>
                <a:cs typeface="Tinos" pitchFamily="34" charset="-120"/>
              </a:rPr>
              <a:t>The Future of Nursing is Here</a:t>
            </a:r>
            <a:endParaRPr lang="en-US" sz="2925" dirty="0"/>
          </a:p>
        </p:txBody>
      </p:sp>
      <p:sp>
        <p:nvSpPr>
          <p:cNvPr id="5" name="Text 1"/>
          <p:cNvSpPr/>
          <p:nvPr/>
        </p:nvSpPr>
        <p:spPr>
          <a:xfrm>
            <a:off x="1785938" y="1827014"/>
            <a:ext cx="5572125" cy="708115"/>
          </a:xfrm>
          <a:prstGeom prst="rect">
            <a:avLst/>
          </a:prstGeom>
          <a:noFill/>
          <a:ln/>
        </p:spPr>
        <p:txBody>
          <a:bodyPr wrap="square" lIns="0" tIns="0" rIns="0" bIns="0" rtlCol="0" anchor="t"/>
          <a:lstStyle/>
          <a:p>
            <a:pPr algn="ctr" indent="0" marL="0">
              <a:lnSpc>
                <a:spcPts val="1721"/>
              </a:lnSpc>
              <a:buNone/>
            </a:pPr>
            <a:r>
              <a:rPr lang="en-US" sz="1013" dirty="0">
                <a:solidFill>
                  <a:srgbClr val="FFFFFF">
                    <a:alpha val="70000"/>
                  </a:srgbClr>
                </a:solidFill>
                <a:latin typeface="Carlito" pitchFamily="34" charset="0"/>
                <a:ea typeface="Carlito" pitchFamily="34" charset="-122"/>
                <a:cs typeface="Carlito" pitchFamily="34" charset="-120"/>
              </a:rPr>
              <a:t>NurseOS is building the infrastructure for the next generation of nursing care — where technology amplifies human expertise, where every nurse has access to AI-powered decision support, and where the profession evolves beyond traditional boundaries.</a:t>
            </a:r>
            <a:endParaRPr lang="en-US" sz="1013" dirty="0"/>
          </a:p>
        </p:txBody>
      </p:sp>
      <p:sp>
        <p:nvSpPr>
          <p:cNvPr id="6" name="Text 2"/>
          <p:cNvSpPr/>
          <p:nvPr/>
        </p:nvSpPr>
        <p:spPr>
          <a:xfrm>
            <a:off x="3110992" y="2832720"/>
            <a:ext cx="57150" cy="57150"/>
          </a:xfrm>
          <a:prstGeom prst="ellipse">
            <a:avLst/>
          </a:prstGeom>
          <a:solidFill>
            <a:srgbClr val="00C9A7"/>
          </a:solidFill>
          <a:ln w="14288">
            <a:solidFill>
              <a:srgbClr val="00C9A7"/>
            </a:solidFill>
            <a:prstDash val="solid"/>
          </a:ln>
        </p:spPr>
        <p:txBody>
          <a:bodyPr wrap="square" rtlCol="0" anchor="ctr"/>
          <a:lstStyle/>
          <a:p>
            <a:pPr indent="0" marL="0">
              <a:buNone/>
            </a:pPr>
            <a:endParaRPr lang="en-US" dirty="0"/>
          </a:p>
        </p:txBody>
      </p:sp>
      <p:sp>
        <p:nvSpPr>
          <p:cNvPr id="7" name="Text 3"/>
          <p:cNvSpPr/>
          <p:nvPr/>
        </p:nvSpPr>
        <p:spPr>
          <a:xfrm>
            <a:off x="2863193" y="2968451"/>
            <a:ext cx="552748" cy="370332"/>
          </a:xfrm>
          <a:prstGeom prst="rect">
            <a:avLst/>
          </a:prstGeom>
          <a:noFill/>
          <a:ln/>
        </p:spPr>
        <p:txBody>
          <a:bodyPr wrap="square" lIns="0" tIns="0" rIns="0" bIns="0" rtlCol="0" anchor="t"/>
          <a:lstStyle/>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AI-First</a:t>
            </a:r>
            <a:endParaRPr lang="en-US" sz="900" dirty="0"/>
          </a:p>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Healthcare</a:t>
            </a:r>
            <a:endParaRPr lang="en-US" sz="900" dirty="0"/>
          </a:p>
        </p:txBody>
      </p:sp>
      <p:sp>
        <p:nvSpPr>
          <p:cNvPr id="8" name="Text 4"/>
          <p:cNvSpPr/>
          <p:nvPr/>
        </p:nvSpPr>
        <p:spPr>
          <a:xfrm>
            <a:off x="4063789" y="2832720"/>
            <a:ext cx="57150" cy="57150"/>
          </a:xfrm>
          <a:prstGeom prst="ellipse">
            <a:avLst/>
          </a:prstGeom>
          <a:solidFill>
            <a:srgbClr val="00C9A7"/>
          </a:solidFill>
          <a:ln w="14288">
            <a:solidFill>
              <a:srgbClr val="00C9A7"/>
            </a:solidFill>
            <a:prstDash val="solid"/>
          </a:ln>
        </p:spPr>
        <p:txBody>
          <a:bodyPr wrap="square" rtlCol="0" anchor="ctr"/>
          <a:lstStyle/>
          <a:p>
            <a:pPr indent="0" marL="0">
              <a:buNone/>
            </a:pPr>
            <a:endParaRPr lang="en-US" dirty="0"/>
          </a:p>
        </p:txBody>
      </p:sp>
      <p:sp>
        <p:nvSpPr>
          <p:cNvPr id="9" name="Text 5"/>
          <p:cNvSpPr/>
          <p:nvPr/>
        </p:nvSpPr>
        <p:spPr>
          <a:xfrm>
            <a:off x="3758840" y="2968451"/>
            <a:ext cx="667048" cy="370332"/>
          </a:xfrm>
          <a:prstGeom prst="rect">
            <a:avLst/>
          </a:prstGeom>
          <a:noFill/>
          <a:ln/>
        </p:spPr>
        <p:txBody>
          <a:bodyPr wrap="square" lIns="0" tIns="0" rIns="0" bIns="0" rtlCol="0" anchor="t"/>
          <a:lstStyle/>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Global Nurse</a:t>
            </a:r>
            <a:endParaRPr lang="en-US" sz="900" dirty="0"/>
          </a:p>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Network</a:t>
            </a:r>
            <a:endParaRPr lang="en-US" sz="900" dirty="0"/>
          </a:p>
        </p:txBody>
      </p:sp>
      <p:sp>
        <p:nvSpPr>
          <p:cNvPr id="10" name="Text 6"/>
          <p:cNvSpPr/>
          <p:nvPr/>
        </p:nvSpPr>
        <p:spPr>
          <a:xfrm>
            <a:off x="5057887" y="2832720"/>
            <a:ext cx="57150" cy="57150"/>
          </a:xfrm>
          <a:prstGeom prst="ellipse">
            <a:avLst/>
          </a:prstGeom>
          <a:solidFill>
            <a:srgbClr val="00C9A7"/>
          </a:solidFill>
          <a:ln w="14288">
            <a:solidFill>
              <a:srgbClr val="00C9A7"/>
            </a:solidFill>
            <a:prstDash val="solid"/>
          </a:ln>
        </p:spPr>
        <p:txBody>
          <a:bodyPr wrap="square" rtlCol="0" anchor="ctr"/>
          <a:lstStyle/>
          <a:p>
            <a:pPr indent="0" marL="0">
              <a:buNone/>
            </a:pPr>
            <a:endParaRPr lang="en-US" dirty="0"/>
          </a:p>
        </p:txBody>
      </p:sp>
      <p:sp>
        <p:nvSpPr>
          <p:cNvPr id="11" name="Text 7"/>
          <p:cNvSpPr/>
          <p:nvPr/>
        </p:nvSpPr>
        <p:spPr>
          <a:xfrm>
            <a:off x="4768788" y="2968451"/>
            <a:ext cx="635347" cy="370332"/>
          </a:xfrm>
          <a:prstGeom prst="rect">
            <a:avLst/>
          </a:prstGeom>
          <a:noFill/>
          <a:ln/>
        </p:spPr>
        <p:txBody>
          <a:bodyPr wrap="square" lIns="0" tIns="0" rIns="0" bIns="0" rtlCol="0" anchor="t"/>
          <a:lstStyle/>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Predictive</a:t>
            </a:r>
            <a:endParaRPr lang="en-US" sz="900" dirty="0"/>
          </a:p>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Patient Care</a:t>
            </a:r>
            <a:endParaRPr lang="en-US" sz="900" dirty="0"/>
          </a:p>
        </p:txBody>
      </p:sp>
      <p:sp>
        <p:nvSpPr>
          <p:cNvPr id="12" name="Text 8"/>
          <p:cNvSpPr/>
          <p:nvPr/>
        </p:nvSpPr>
        <p:spPr>
          <a:xfrm>
            <a:off x="5985235" y="2832720"/>
            <a:ext cx="57150" cy="57150"/>
          </a:xfrm>
          <a:prstGeom prst="ellipse">
            <a:avLst/>
          </a:prstGeom>
          <a:solidFill>
            <a:srgbClr val="00C9A7"/>
          </a:solidFill>
          <a:ln w="14288">
            <a:solidFill>
              <a:srgbClr val="00C9A7"/>
            </a:solidFill>
            <a:prstDash val="solid"/>
          </a:ln>
        </p:spPr>
        <p:txBody>
          <a:bodyPr wrap="square" rtlCol="0" anchor="ctr"/>
          <a:lstStyle/>
          <a:p>
            <a:pPr indent="0" marL="0">
              <a:buNone/>
            </a:pPr>
            <a:endParaRPr lang="en-US" dirty="0"/>
          </a:p>
        </p:txBody>
      </p:sp>
      <p:sp>
        <p:nvSpPr>
          <p:cNvPr id="13" name="Text 9"/>
          <p:cNvSpPr/>
          <p:nvPr/>
        </p:nvSpPr>
        <p:spPr>
          <a:xfrm>
            <a:off x="5747035" y="2968451"/>
            <a:ext cx="533660" cy="370332"/>
          </a:xfrm>
          <a:prstGeom prst="rect">
            <a:avLst/>
          </a:prstGeom>
          <a:noFill/>
          <a:ln/>
        </p:spPr>
        <p:txBody>
          <a:bodyPr wrap="square" lIns="0" tIns="0" rIns="0" bIns="0" rtlCol="0" anchor="t"/>
          <a:lstStyle/>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Nurse-Led</a:t>
            </a:r>
            <a:endParaRPr lang="en-US" sz="900" dirty="0"/>
          </a:p>
          <a:p>
            <a:pPr algn="ctr" indent="0" marL="0">
              <a:lnSpc>
                <a:spcPts val="1350"/>
              </a:lnSpc>
              <a:buNone/>
            </a:pPr>
            <a:r>
              <a:rPr lang="en-US" sz="900" dirty="0">
                <a:solidFill>
                  <a:srgbClr val="FFFFFF"/>
                </a:solidFill>
                <a:latin typeface="Carlito" pitchFamily="34" charset="0"/>
                <a:ea typeface="Carlito" pitchFamily="34" charset="-122"/>
                <a:cs typeface="Carlito" pitchFamily="34" charset="-120"/>
              </a:rPr>
              <a:t>Innovation</a:t>
            </a:r>
            <a:endParaRPr lang="en-US" sz="900" dirty="0"/>
          </a:p>
        </p:txBody>
      </p:sp>
      <p:sp>
        <p:nvSpPr>
          <p:cNvPr id="14" name="Text 10"/>
          <p:cNvSpPr/>
          <p:nvPr/>
        </p:nvSpPr>
        <p:spPr>
          <a:xfrm>
            <a:off x="2607022" y="3657823"/>
            <a:ext cx="3929955" cy="282178"/>
          </a:xfrm>
          <a:prstGeom prst="roundRect">
            <a:avLst>
              <a:gd name="adj" fmla="val 337215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5" name="Text 11"/>
          <p:cNvSpPr/>
          <p:nvPr/>
        </p:nvSpPr>
        <p:spPr>
          <a:xfrm>
            <a:off x="2603450" y="3654251"/>
            <a:ext cx="3937099" cy="312468"/>
          </a:xfrm>
          <a:prstGeom prst="rect">
            <a:avLst/>
          </a:prstGeom>
          <a:noFill/>
          <a:ln/>
        </p:spPr>
        <p:txBody>
          <a:bodyPr wrap="square" lIns="171450" tIns="57150" rIns="171450" bIns="57150" rtlCol="0" anchor="t"/>
          <a:lstStyle/>
          <a:p>
            <a:pPr algn="l" indent="0" marL="0">
              <a:lnSpc>
                <a:spcPts val="1266"/>
              </a:lnSpc>
              <a:buNone/>
            </a:pPr>
            <a:r>
              <a:rPr lang="en-US" sz="844" dirty="0">
                <a:solidFill>
                  <a:srgbClr val="00C9A7"/>
                </a:solidFill>
                <a:latin typeface="Carlito" pitchFamily="34" charset="0"/>
                <a:ea typeface="Carlito" pitchFamily="34" charset="-122"/>
                <a:cs typeface="Carlito" pitchFamily="34" charset="-120"/>
              </a:rPr>
              <a:t>Coming Soon: Mobile App, API Ecosystem, and Regional Expansion</a:t>
            </a:r>
            <a:endParaRPr lang="en-US" sz="84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34340" y="880056"/>
            <a:ext cx="1117171" cy="275634"/>
          </a:xfrm>
          <a:prstGeom prst="roundRect">
            <a:avLst>
              <a:gd name="adj" fmla="val 3452214"/>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3" name="Text 1"/>
          <p:cNvSpPr/>
          <p:nvPr/>
        </p:nvSpPr>
        <p:spPr>
          <a:xfrm>
            <a:off x="457200" y="892857"/>
            <a:ext cx="1071451" cy="250031"/>
          </a:xfrm>
          <a:prstGeom prst="rect">
            <a:avLst/>
          </a:prstGeom>
          <a:noFill/>
          <a:ln/>
        </p:spPr>
        <p:txBody>
          <a:bodyPr wrap="none" lIns="114300" tIns="42863" rIns="114300" bIns="42863" rtlCol="0" anchor="ctr"/>
          <a:lstStyle/>
          <a:p>
            <a:pPr algn="ctr" indent="0" marL="0">
              <a:lnSpc>
                <a:spcPts val="1181"/>
              </a:lnSpc>
              <a:buNone/>
            </a:pPr>
            <a:r>
              <a:rPr lang="en-US" sz="800" dirty="0">
                <a:solidFill>
                  <a:srgbClr val="00C9A7"/>
                </a:solidFill>
                <a:latin typeface="Carlito" pitchFamily="34" charset="0"/>
                <a:ea typeface="Carlito" pitchFamily="34" charset="-122"/>
                <a:cs typeface="Carlito" pitchFamily="34" charset="-120"/>
              </a:rPr>
              <a:t>About the Founder</a:t>
            </a:r>
            <a:endParaRPr lang="en-US" sz="800" dirty="0"/>
          </a:p>
        </p:txBody>
      </p:sp>
      <p:sp>
        <p:nvSpPr>
          <p:cNvPr id="4" name="Text 2"/>
          <p:cNvSpPr/>
          <p:nvPr/>
        </p:nvSpPr>
        <p:spPr>
          <a:xfrm>
            <a:off x="457200" y="1314338"/>
            <a:ext cx="4140518" cy="372622"/>
          </a:xfrm>
          <a:prstGeom prst="rect">
            <a:avLst/>
          </a:prstGeom>
          <a:noFill/>
          <a:ln/>
        </p:spPr>
        <p:txBody>
          <a:bodyPr wrap="none" lIns="0" tIns="0" rIns="0" bIns="0" rtlCol="0" anchor="t"/>
          <a:lstStyle/>
          <a:p>
            <a:pPr algn="l" indent="0" marL="0">
              <a:lnSpc>
                <a:spcPts val="2717"/>
              </a:lnSpc>
              <a:buNone/>
            </a:pPr>
            <a:r>
              <a:rPr lang="en-US" sz="2363" b="1" dirty="0">
                <a:solidFill>
                  <a:srgbClr val="FFFFFF"/>
                </a:solidFill>
                <a:latin typeface="Tinos" pitchFamily="34" charset="0"/>
                <a:ea typeface="Tinos" pitchFamily="34" charset="-122"/>
                <a:cs typeface="Tinos" pitchFamily="34" charset="-120"/>
              </a:rPr>
              <a:t>Wabi The Tech Nurse</a:t>
            </a:r>
            <a:endParaRPr lang="en-US" sz="2363" dirty="0"/>
          </a:p>
        </p:txBody>
      </p:sp>
      <p:sp>
        <p:nvSpPr>
          <p:cNvPr id="5" name="Text 3"/>
          <p:cNvSpPr/>
          <p:nvPr/>
        </p:nvSpPr>
        <p:spPr>
          <a:xfrm>
            <a:off x="436430" y="1818008"/>
            <a:ext cx="560802" cy="264919"/>
          </a:xfrm>
          <a:prstGeom prst="roundRect">
            <a:avLst>
              <a:gd name="adj" fmla="val 359184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457200" y="1830809"/>
            <a:ext cx="519261" cy="239316"/>
          </a:xfrm>
          <a:prstGeom prst="rect">
            <a:avLst/>
          </a:prstGeom>
          <a:noFill/>
          <a:ln/>
        </p:spPr>
        <p:txBody>
          <a:bodyPr wrap="none" lIns="128588" tIns="42863" rIns="128588" bIns="42863" rtlCol="0" anchor="ctr"/>
          <a:lstStyle/>
          <a:p>
            <a:pPr algn="ctr" indent="0" marL="0">
              <a:lnSpc>
                <a:spcPts val="1097"/>
              </a:lnSpc>
              <a:buNone/>
            </a:pPr>
            <a:r>
              <a:rPr lang="en-US" sz="800" dirty="0">
                <a:solidFill>
                  <a:srgbClr val="FFFFFF">
                    <a:alpha val="70000"/>
                  </a:srgbClr>
                </a:solidFill>
                <a:latin typeface="Carlito" pitchFamily="34" charset="0"/>
                <a:ea typeface="Carlito" pitchFamily="34" charset="-122"/>
                <a:cs typeface="Carlito" pitchFamily="34" charset="-120"/>
              </a:rPr>
              <a:t>Nurse</a:t>
            </a:r>
            <a:endParaRPr lang="en-US" sz="800" dirty="0"/>
          </a:p>
        </p:txBody>
      </p:sp>
      <p:sp>
        <p:nvSpPr>
          <p:cNvPr id="7" name="Text 5"/>
          <p:cNvSpPr/>
          <p:nvPr/>
        </p:nvSpPr>
        <p:spPr>
          <a:xfrm>
            <a:off x="1062186" y="1936179"/>
            <a:ext cx="28575" cy="28575"/>
          </a:xfrm>
          <a:prstGeom prst="ellipse">
            <a:avLst/>
          </a:prstGeom>
          <a:solidFill>
            <a:srgbClr val="00C9A7"/>
          </a:solidFill>
          <a:ln/>
        </p:spPr>
        <p:txBody>
          <a:bodyPr wrap="square" rtlCol="0" anchor="ctr"/>
          <a:lstStyle/>
          <a:p>
            <a:pPr indent="0" marL="0">
              <a:buNone/>
            </a:pPr>
            <a:endParaRPr lang="en-US" dirty="0"/>
          </a:p>
        </p:txBody>
      </p:sp>
      <p:sp>
        <p:nvSpPr>
          <p:cNvPr id="8" name="Text 6"/>
          <p:cNvSpPr/>
          <p:nvPr/>
        </p:nvSpPr>
        <p:spPr>
          <a:xfrm>
            <a:off x="1153626" y="1818008"/>
            <a:ext cx="704396" cy="264919"/>
          </a:xfrm>
          <a:prstGeom prst="roundRect">
            <a:avLst>
              <a:gd name="adj" fmla="val 359184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1176486" y="1830809"/>
            <a:ext cx="658676" cy="239316"/>
          </a:xfrm>
          <a:prstGeom prst="rect">
            <a:avLst/>
          </a:prstGeom>
          <a:noFill/>
          <a:ln/>
        </p:spPr>
        <p:txBody>
          <a:bodyPr wrap="none" lIns="128588" tIns="42863" rIns="128588" bIns="42863" rtlCol="0" anchor="ctr"/>
          <a:lstStyle/>
          <a:p>
            <a:pPr algn="ctr" indent="0" marL="0">
              <a:lnSpc>
                <a:spcPts val="1097"/>
              </a:lnSpc>
              <a:buNone/>
            </a:pPr>
            <a:r>
              <a:rPr lang="en-US" sz="800" dirty="0">
                <a:solidFill>
                  <a:srgbClr val="FFFFFF">
                    <a:alpha val="70000"/>
                  </a:srgbClr>
                </a:solidFill>
                <a:latin typeface="Carlito" pitchFamily="34" charset="0"/>
                <a:ea typeface="Carlito" pitchFamily="34" charset="-122"/>
                <a:cs typeface="Carlito" pitchFamily="34" charset="-120"/>
              </a:rPr>
              <a:t>Innovator</a:t>
            </a:r>
            <a:endParaRPr lang="en-US" sz="800" dirty="0"/>
          </a:p>
        </p:txBody>
      </p:sp>
      <p:sp>
        <p:nvSpPr>
          <p:cNvPr id="10" name="Text 8"/>
          <p:cNvSpPr/>
          <p:nvPr/>
        </p:nvSpPr>
        <p:spPr>
          <a:xfrm>
            <a:off x="1920887" y="1936179"/>
            <a:ext cx="28575" cy="28575"/>
          </a:xfrm>
          <a:prstGeom prst="ellipse">
            <a:avLst/>
          </a:prstGeom>
          <a:solidFill>
            <a:srgbClr val="00C9A7"/>
          </a:solidFill>
          <a:ln/>
        </p:spPr>
        <p:txBody>
          <a:bodyPr wrap="square" rtlCol="0" anchor="ctr"/>
          <a:lstStyle/>
          <a:p>
            <a:pPr indent="0" marL="0">
              <a:buNone/>
            </a:pPr>
            <a:endParaRPr lang="en-US" dirty="0"/>
          </a:p>
        </p:txBody>
      </p:sp>
      <p:sp>
        <p:nvSpPr>
          <p:cNvPr id="11" name="Text 9"/>
          <p:cNvSpPr/>
          <p:nvPr/>
        </p:nvSpPr>
        <p:spPr>
          <a:xfrm>
            <a:off x="2012327" y="1818008"/>
            <a:ext cx="663096" cy="264919"/>
          </a:xfrm>
          <a:prstGeom prst="roundRect">
            <a:avLst>
              <a:gd name="adj" fmla="val 359184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2035187" y="1830809"/>
            <a:ext cx="617376" cy="239316"/>
          </a:xfrm>
          <a:prstGeom prst="rect">
            <a:avLst/>
          </a:prstGeom>
          <a:noFill/>
          <a:ln/>
        </p:spPr>
        <p:txBody>
          <a:bodyPr wrap="none" lIns="128588" tIns="42863" rIns="128588" bIns="42863" rtlCol="0" anchor="ctr"/>
          <a:lstStyle/>
          <a:p>
            <a:pPr algn="ctr" indent="0" marL="0">
              <a:lnSpc>
                <a:spcPts val="1097"/>
              </a:lnSpc>
              <a:buNone/>
            </a:pPr>
            <a:r>
              <a:rPr lang="en-US" sz="800" dirty="0">
                <a:solidFill>
                  <a:srgbClr val="FFFFFF">
                    <a:alpha val="70000"/>
                  </a:srgbClr>
                </a:solidFill>
                <a:latin typeface="Carlito" pitchFamily="34" charset="0"/>
                <a:ea typeface="Carlito" pitchFamily="34" charset="-122"/>
                <a:cs typeface="Carlito" pitchFamily="34" charset="-120"/>
              </a:rPr>
              <a:t>Founder</a:t>
            </a:r>
            <a:endParaRPr lang="en-US" sz="800" dirty="0"/>
          </a:p>
        </p:txBody>
      </p:sp>
      <p:sp>
        <p:nvSpPr>
          <p:cNvPr id="13" name="Text 11"/>
          <p:cNvSpPr/>
          <p:nvPr/>
        </p:nvSpPr>
        <p:spPr>
          <a:xfrm>
            <a:off x="2738289" y="1936179"/>
            <a:ext cx="28575" cy="28575"/>
          </a:xfrm>
          <a:prstGeom prst="ellipse">
            <a:avLst/>
          </a:prstGeom>
          <a:solidFill>
            <a:srgbClr val="00C9A7"/>
          </a:solidFill>
          <a:ln/>
        </p:spPr>
        <p:txBody>
          <a:bodyPr wrap="square" rtlCol="0" anchor="ctr"/>
          <a:lstStyle/>
          <a:p>
            <a:pPr indent="0" marL="0">
              <a:buNone/>
            </a:pPr>
            <a:endParaRPr lang="en-US" dirty="0"/>
          </a:p>
        </p:txBody>
      </p:sp>
      <p:sp>
        <p:nvSpPr>
          <p:cNvPr id="14" name="Text 12"/>
          <p:cNvSpPr/>
          <p:nvPr/>
        </p:nvSpPr>
        <p:spPr>
          <a:xfrm>
            <a:off x="460772" y="2159422"/>
            <a:ext cx="1615269" cy="232172"/>
          </a:xfrm>
          <a:prstGeom prst="roundRect">
            <a:avLst>
              <a:gd name="adj" fmla="val 4098459"/>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5" name="Text 13"/>
          <p:cNvSpPr/>
          <p:nvPr/>
        </p:nvSpPr>
        <p:spPr>
          <a:xfrm>
            <a:off x="457200" y="2155850"/>
            <a:ext cx="1622413" cy="282761"/>
          </a:xfrm>
          <a:prstGeom prst="rect">
            <a:avLst/>
          </a:prstGeom>
          <a:noFill/>
          <a:ln/>
        </p:spPr>
        <p:txBody>
          <a:bodyPr wrap="none" lIns="128588" tIns="42863" rIns="128588" bIns="42863" rtlCol="0" anchor="t"/>
          <a:lstStyle/>
          <a:p>
            <a:pPr algn="l" indent="0" marL="0">
              <a:lnSpc>
                <a:spcPts val="1097"/>
              </a:lnSpc>
              <a:buNone/>
            </a:pPr>
            <a:r>
              <a:rPr lang="en-US" sz="800" dirty="0">
                <a:solidFill>
                  <a:srgbClr val="FFFFFF">
                    <a:alpha val="70000"/>
                  </a:srgbClr>
                </a:solidFill>
                <a:latin typeface="Carlito" pitchFamily="34" charset="0"/>
                <a:ea typeface="Carlito" pitchFamily="34" charset="-122"/>
                <a:cs typeface="Carlito" pitchFamily="34" charset="-120"/>
              </a:rPr>
              <a:t>Healthcare Technology Advocate</a:t>
            </a:r>
            <a:endParaRPr lang="en-US" sz="800" dirty="0"/>
          </a:p>
        </p:txBody>
      </p:sp>
      <p:sp>
        <p:nvSpPr>
          <p:cNvPr id="16" name="Text 14"/>
          <p:cNvSpPr/>
          <p:nvPr/>
        </p:nvSpPr>
        <p:spPr>
          <a:xfrm>
            <a:off x="457200" y="2623765"/>
            <a:ext cx="3714750" cy="1048792"/>
          </a:xfrm>
          <a:prstGeom prst="rect">
            <a:avLst/>
          </a:prstGeom>
          <a:noFill/>
          <a:ln/>
        </p:spPr>
        <p:txBody>
          <a:bodyPr wrap="square" lIns="0" tIns="0" rIns="0" bIns="0" rtlCol="0" anchor="t"/>
          <a:lstStyle/>
          <a:p>
            <a:pPr algn="l" indent="0" marL="0">
              <a:lnSpc>
                <a:spcPts val="1530"/>
              </a:lnSpc>
              <a:buNone/>
            </a:pPr>
            <a:r>
              <a:rPr lang="en-US" sz="900" dirty="0">
                <a:solidFill>
                  <a:srgbClr val="FFFFFF">
                    <a:alpha val="70000"/>
                  </a:srgbClr>
                </a:solidFill>
                <a:latin typeface="Carlito" pitchFamily="34" charset="0"/>
                <a:ea typeface="Carlito" pitchFamily="34" charset="-122"/>
                <a:cs typeface="Carlito" pitchFamily="34" charset="-120"/>
              </a:rPr>
              <a:t>A registered nurse who saw the gaps in healthcare technology from the inside — and built the solution. Wabi transitioned from bedside nursing to healthcare technology innovation, creating NurseOS to prove that nurses are not just users of technology, but creators and architects of the future of healthcare.</a:t>
            </a:r>
            <a:endParaRPr lang="en-US" sz="900" dirty="0"/>
          </a:p>
        </p:txBody>
      </p:sp>
      <p:sp>
        <p:nvSpPr>
          <p:cNvPr id="17" name="Shape 15"/>
          <p:cNvSpPr/>
          <p:nvPr/>
        </p:nvSpPr>
        <p:spPr>
          <a:xfrm>
            <a:off x="467916" y="3823469"/>
            <a:ext cx="0" cy="427174"/>
          </a:xfrm>
          <a:prstGeom prst="line">
            <a:avLst/>
          </a:prstGeom>
          <a:noFill/>
          <a:ln w="21431">
            <a:solidFill>
              <a:srgbClr val="00C9A7"/>
            </a:solidFill>
            <a:prstDash val="solid"/>
          </a:ln>
        </p:spPr>
      </p:sp>
      <p:sp>
        <p:nvSpPr>
          <p:cNvPr id="18" name="Text 16"/>
          <p:cNvSpPr/>
          <p:nvPr/>
        </p:nvSpPr>
        <p:spPr>
          <a:xfrm>
            <a:off x="621506" y="3823469"/>
            <a:ext cx="3088672" cy="237606"/>
          </a:xfrm>
          <a:prstGeom prst="rect">
            <a:avLst/>
          </a:prstGeom>
          <a:noFill/>
          <a:ln/>
        </p:spPr>
        <p:txBody>
          <a:bodyPr wrap="square" lIns="0" tIns="0" rIns="0" bIns="0" rtlCol="0" anchor="t"/>
          <a:lstStyle/>
          <a:p>
            <a:pPr algn="l" indent="0" marL="0">
              <a:lnSpc>
                <a:spcPts val="1733"/>
              </a:lnSpc>
              <a:buNone/>
            </a:pPr>
            <a:r>
              <a:rPr lang="en-US" sz="1238" i="1" dirty="0">
                <a:solidFill>
                  <a:srgbClr val="FFFFFF"/>
                </a:solidFill>
                <a:latin typeface="Tinos" pitchFamily="34" charset="0"/>
                <a:ea typeface="Tinos" pitchFamily="34" charset="-122"/>
                <a:cs typeface="Tinos" pitchFamily="34" charset="-120"/>
              </a:rPr>
              <a:t>Nursing is Beyond the Bedside.</a:t>
            </a:r>
            <a:endParaRPr lang="en-US" sz="1238" dirty="0"/>
          </a:p>
        </p:txBody>
      </p:sp>
      <p:sp>
        <p:nvSpPr>
          <p:cNvPr id="19" name="Text 17"/>
          <p:cNvSpPr/>
          <p:nvPr/>
        </p:nvSpPr>
        <p:spPr>
          <a:xfrm>
            <a:off x="621506" y="4100624"/>
            <a:ext cx="2978944" cy="150019"/>
          </a:xfrm>
          <a:prstGeom prst="rect">
            <a:avLst/>
          </a:prstGeom>
          <a:noFill/>
          <a:ln/>
        </p:spPr>
        <p:txBody>
          <a:bodyPr wrap="none" lIns="0" tIns="0" rIns="0" bIns="0" rtlCol="0" anchor="t"/>
          <a:lstStyle/>
          <a:p>
            <a:pPr algn="l" indent="0" marL="0">
              <a:lnSpc>
                <a:spcPts val="1181"/>
              </a:lnSpc>
              <a:buNone/>
            </a:pPr>
            <a:r>
              <a:rPr lang="en-US" sz="800" dirty="0">
                <a:solidFill>
                  <a:srgbClr val="FFFFFF">
                    <a:alpha val="40000"/>
                  </a:srgbClr>
                </a:solidFill>
                <a:latin typeface="Carlito" pitchFamily="34" charset="0"/>
                <a:ea typeface="Carlito" pitchFamily="34" charset="-122"/>
                <a:cs typeface="Carlito" pitchFamily="34" charset="-120"/>
              </a:rPr>
              <a:t>— Wabi, Founder, NurseOS</a:t>
            </a:r>
            <a:endParaRPr lang="en-US" sz="800" dirty="0"/>
          </a:p>
        </p:txBody>
      </p:sp>
      <p:sp>
        <p:nvSpPr>
          <p:cNvPr id="20" name="Text 18"/>
          <p:cNvSpPr/>
          <p:nvPr/>
        </p:nvSpPr>
        <p:spPr>
          <a:xfrm>
            <a:off x="4929188" y="785813"/>
            <a:ext cx="3571875" cy="3571875"/>
          </a:xfrm>
          <a:prstGeom prst="ellipse">
            <a:avLst/>
          </a:prstGeom>
          <a:solidFill>
            <a:srgbClr val="FFFFFF">
              <a:alpha val="0"/>
            </a:srgbClr>
          </a:solidFill>
          <a:ln/>
        </p:spPr>
        <p:txBody>
          <a:bodyPr wrap="square" rtlCol="0" anchor="ctr"/>
          <a:lstStyle/>
          <a:p>
            <a:pPr indent="0" marL="0">
              <a:buNone/>
            </a:pPr>
            <a:endParaRPr lang="en-US" dirty="0"/>
          </a:p>
        </p:txBody>
      </p:sp>
      <p:pic>
        <p:nvPicPr>
          <p:cNvPr id="21" name="Image 0" descr="preencoded.png">    </p:cNvPr>
          <p:cNvPicPr>
            <a:picLocks noChangeAspect="1"/>
          </p:cNvPicPr>
          <p:nvPr/>
        </p:nvPicPr>
        <p:blipFill>
          <a:blip r:embed="rId1"/>
          <a:stretch>
            <a:fillRect/>
          </a:stretch>
        </p:blipFill>
        <p:spPr>
          <a:xfrm>
            <a:off x="5929313" y="1625203"/>
            <a:ext cx="1571625" cy="1571625"/>
          </a:xfrm>
          <a:prstGeom prst="rect">
            <a:avLst/>
          </a:prstGeom>
        </p:spPr>
      </p:pic>
      <p:sp>
        <p:nvSpPr>
          <p:cNvPr id="22" name="Text 19"/>
          <p:cNvSpPr/>
          <p:nvPr/>
        </p:nvSpPr>
        <p:spPr>
          <a:xfrm>
            <a:off x="5940028" y="1635919"/>
            <a:ext cx="1550194" cy="1550194"/>
          </a:xfrm>
          <a:prstGeom prst="ellipse">
            <a:avLst/>
          </a:prstGeom>
          <a:noFill/>
          <a:ln w="21431">
            <a:solidFill>
              <a:srgbClr val="00C9A7"/>
            </a:solidFill>
            <a:prstDash val="solid"/>
          </a:ln>
        </p:spPr>
        <p:txBody>
          <a:bodyPr wrap="square" rtlCol="0" anchor="ctr"/>
          <a:lstStyle/>
          <a:p>
            <a:pPr indent="0" marL="0">
              <a:buNone/>
            </a:pPr>
            <a:endParaRPr lang="en-US" dirty="0"/>
          </a:p>
        </p:txBody>
      </p:sp>
      <p:sp>
        <p:nvSpPr>
          <p:cNvPr id="23" name="Text 20"/>
          <p:cNvSpPr/>
          <p:nvPr/>
        </p:nvSpPr>
        <p:spPr>
          <a:xfrm>
            <a:off x="6238726" y="2125266"/>
            <a:ext cx="1240780" cy="617220"/>
          </a:xfrm>
          <a:prstGeom prst="rect">
            <a:avLst/>
          </a:prstGeom>
          <a:noFill/>
          <a:ln/>
        </p:spPr>
        <p:txBody>
          <a:bodyPr wrap="none" lIns="0" tIns="0" rIns="0" bIns="0" rtlCol="0" anchor="t"/>
          <a:lstStyle/>
          <a:p>
            <a:pPr algn="l" indent="0" marL="0">
              <a:lnSpc>
                <a:spcPts val="4500"/>
              </a:lnSpc>
              <a:buNone/>
            </a:pPr>
            <a:r>
              <a:rPr lang="en-US" sz="4500" b="1" dirty="0">
                <a:solidFill>
                  <a:srgbClr val="00C9A7"/>
                </a:solidFill>
                <a:latin typeface="Tinos" pitchFamily="34" charset="0"/>
                <a:ea typeface="Tinos" pitchFamily="34" charset="-122"/>
                <a:cs typeface="Tinos" pitchFamily="34" charset="-120"/>
              </a:rPr>
              <a:t>WT</a:t>
            </a:r>
            <a:endParaRPr lang="en-US" sz="4500" dirty="0"/>
          </a:p>
        </p:txBody>
      </p:sp>
      <p:sp>
        <p:nvSpPr>
          <p:cNvPr id="24" name="Text 21"/>
          <p:cNvSpPr/>
          <p:nvPr/>
        </p:nvSpPr>
        <p:spPr>
          <a:xfrm>
            <a:off x="5944212" y="3368278"/>
            <a:ext cx="1541714" cy="164592"/>
          </a:xfrm>
          <a:prstGeom prst="rect">
            <a:avLst/>
          </a:prstGeom>
          <a:noFill/>
          <a:ln/>
        </p:spPr>
        <p:txBody>
          <a:bodyPr wrap="none" lIns="0" tIns="0" rIns="0" bIns="0" rtlCol="0" anchor="t"/>
          <a:lstStyle/>
          <a:p>
            <a:pPr algn="ctr" indent="0" marL="0">
              <a:lnSpc>
                <a:spcPts val="1181"/>
              </a:lnSpc>
              <a:buNone/>
            </a:pPr>
            <a:r>
              <a:rPr lang="en-US" sz="800" spc="63" kern="0" dirty="0">
                <a:solidFill>
                  <a:srgbClr val="FFFFFF">
                    <a:alpha val="40000"/>
                  </a:srgbClr>
                </a:solidFill>
                <a:latin typeface="Carlito" pitchFamily="34" charset="0"/>
                <a:ea typeface="Carlito" pitchFamily="34" charset="-122"/>
                <a:cs typeface="Carlito" pitchFamily="34" charset="-120"/>
              </a:rPr>
              <a:t>FOUNDER &amp; CREATOR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757988" y="-400050"/>
            <a:ext cx="2500313" cy="2500313"/>
          </a:xfrm>
          <a:prstGeom prst="ellipse">
            <a:avLst/>
          </a:prstGeom>
          <a:solidFill>
            <a:srgbClr val="FFFFFF">
              <a:alpha val="0"/>
            </a:srgbClr>
          </a:solidFill>
          <a:ln/>
        </p:spPr>
        <p:txBody>
          <a:bodyPr wrap="square" rtlCol="0" anchor="ctr"/>
          <a:lstStyle/>
          <a:p>
            <a:pPr indent="0" marL="0">
              <a:buNone/>
            </a:pPr>
            <a:endParaRPr lang="en-US" dirty="0"/>
          </a:p>
        </p:txBody>
      </p:sp>
      <p:sp>
        <p:nvSpPr>
          <p:cNvPr id="3" name="Text 1"/>
          <p:cNvSpPr/>
          <p:nvPr/>
        </p:nvSpPr>
        <p:spPr>
          <a:xfrm>
            <a:off x="434340" y="444398"/>
            <a:ext cx="1066830" cy="275634"/>
          </a:xfrm>
          <a:prstGeom prst="roundRect">
            <a:avLst>
              <a:gd name="adj" fmla="val 3452214"/>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4" name="Text 2"/>
          <p:cNvSpPr/>
          <p:nvPr/>
        </p:nvSpPr>
        <p:spPr>
          <a:xfrm>
            <a:off x="457200" y="457200"/>
            <a:ext cx="1021110" cy="250031"/>
          </a:xfrm>
          <a:prstGeom prst="rect">
            <a:avLst/>
          </a:prstGeom>
          <a:noFill/>
          <a:ln/>
        </p:spPr>
        <p:txBody>
          <a:bodyPr wrap="none" lIns="114300" tIns="42863" rIns="114300" bIns="42863" rtlCol="0" anchor="ctr"/>
          <a:lstStyle/>
          <a:p>
            <a:pPr algn="ctr" indent="0" marL="0">
              <a:lnSpc>
                <a:spcPts val="1181"/>
              </a:lnSpc>
              <a:buNone/>
            </a:pPr>
            <a:r>
              <a:rPr lang="en-US" sz="800" dirty="0">
                <a:solidFill>
                  <a:srgbClr val="00C9A7"/>
                </a:solidFill>
                <a:latin typeface="Carlito" pitchFamily="34" charset="0"/>
                <a:ea typeface="Carlito" pitchFamily="34" charset="-122"/>
                <a:cs typeface="Carlito" pitchFamily="34" charset="-120"/>
              </a:rPr>
              <a:t>Impact &amp; Traction</a:t>
            </a:r>
            <a:endParaRPr lang="en-US" sz="800" dirty="0"/>
          </a:p>
        </p:txBody>
      </p:sp>
      <p:sp>
        <p:nvSpPr>
          <p:cNvPr id="5" name="Text 3"/>
          <p:cNvSpPr/>
          <p:nvPr/>
        </p:nvSpPr>
        <p:spPr>
          <a:xfrm>
            <a:off x="457200" y="821531"/>
            <a:ext cx="8636000" cy="479774"/>
          </a:xfrm>
          <a:prstGeom prst="rect">
            <a:avLst/>
          </a:prstGeom>
          <a:noFill/>
          <a:ln/>
        </p:spPr>
        <p:txBody>
          <a:bodyPr wrap="none" lIns="0" tIns="0" rIns="0" bIns="0" rtlCol="0" anchor="t">
            <a:normAutofit/>
          </a:bodyPr>
          <a:lstStyle/>
          <a:p>
            <a:pPr algn="l" indent="0" marL="0">
              <a:lnSpc>
                <a:spcPts val="3544"/>
              </a:lnSpc>
              <a:buNone/>
            </a:pPr>
            <a:r>
              <a:rPr lang="en-US" sz="2363" b="1" dirty="0">
                <a:solidFill>
                  <a:srgbClr val="FFFFFF"/>
                </a:solidFill>
                <a:latin typeface="Tinos" pitchFamily="34" charset="0"/>
                <a:ea typeface="Tinos" pitchFamily="34" charset="-122"/>
                <a:cs typeface="Tinos" pitchFamily="34" charset="-120"/>
              </a:rPr>
              <a:t>Building Momentum</a:t>
            </a:r>
            <a:endParaRPr lang="en-US" sz="2363" dirty="0"/>
          </a:p>
        </p:txBody>
      </p:sp>
      <p:sp>
        <p:nvSpPr>
          <p:cNvPr id="6" name="Text 4"/>
          <p:cNvSpPr/>
          <p:nvPr/>
        </p:nvSpPr>
        <p:spPr>
          <a:xfrm>
            <a:off x="457200" y="1328738"/>
            <a:ext cx="8636000" cy="185166"/>
          </a:xfrm>
          <a:prstGeom prst="rect">
            <a:avLst/>
          </a:prstGeom>
          <a:noFill/>
          <a:ln/>
        </p:spPr>
        <p:txBody>
          <a:bodyPr wrap="none" lIns="0" tIns="0" rIns="0" bIns="0" rtlCol="0" anchor="t"/>
          <a:lstStyle/>
          <a:p>
            <a:pPr algn="l" indent="0" marL="0">
              <a:lnSpc>
                <a:spcPts val="1350"/>
              </a:lnSpc>
              <a:buNone/>
            </a:pPr>
            <a:r>
              <a:rPr lang="en-US" sz="900" dirty="0">
                <a:solidFill>
                  <a:srgbClr val="FFFFFF">
                    <a:alpha val="70000"/>
                  </a:srgbClr>
                </a:solidFill>
                <a:latin typeface="Carlito" pitchFamily="34" charset="0"/>
                <a:ea typeface="Carlito" pitchFamily="34" charset="-122"/>
                <a:cs typeface="Carlito" pitchFamily="34" charset="-120"/>
              </a:rPr>
              <a:t>From vision to reality.</a:t>
            </a:r>
            <a:endParaRPr lang="en-US" sz="900" dirty="0"/>
          </a:p>
        </p:txBody>
      </p:sp>
      <p:sp>
        <p:nvSpPr>
          <p:cNvPr id="7" name="Text 5"/>
          <p:cNvSpPr/>
          <p:nvPr/>
        </p:nvSpPr>
        <p:spPr>
          <a:xfrm>
            <a:off x="460772" y="1732359"/>
            <a:ext cx="2621756" cy="1550194"/>
          </a:xfrm>
          <a:prstGeom prst="roundRect">
            <a:avLst>
              <a:gd name="adj" fmla="val 737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8" name="Text 6"/>
          <p:cNvSpPr/>
          <p:nvPr/>
        </p:nvSpPr>
        <p:spPr>
          <a:xfrm>
            <a:off x="1593592" y="1935956"/>
            <a:ext cx="356116" cy="429768"/>
          </a:xfrm>
          <a:prstGeom prst="rect">
            <a:avLst/>
          </a:prstGeom>
          <a:noFill/>
          <a:ln/>
        </p:spPr>
        <p:txBody>
          <a:bodyPr wrap="none" lIns="0" tIns="0" rIns="0" bIns="0" rtlCol="0" anchor="t">
            <a:normAutofit/>
          </a:bodyPr>
          <a:lstStyle/>
          <a:p>
            <a:pPr algn="ctr" indent="0" marL="0">
              <a:lnSpc>
                <a:spcPts val="3150"/>
              </a:lnSpc>
              <a:buNone/>
            </a:pPr>
            <a:r>
              <a:rPr lang="en-US" sz="3150" b="1" dirty="0">
                <a:solidFill>
                  <a:srgbClr val="00C9A7"/>
                </a:solidFill>
                <a:latin typeface="Liberation Sans Narrow" pitchFamily="34" charset="0"/>
                <a:ea typeface="Liberation Sans Narrow" pitchFamily="34" charset="-122"/>
                <a:cs typeface="Liberation Sans Narrow" pitchFamily="34" charset="-120"/>
              </a:rPr>
              <a:t>5</a:t>
            </a:r>
            <a:endParaRPr lang="en-US" sz="3150" dirty="0"/>
          </a:p>
        </p:txBody>
      </p:sp>
      <p:sp>
        <p:nvSpPr>
          <p:cNvPr id="9" name="Text 7"/>
          <p:cNvSpPr/>
          <p:nvPr/>
        </p:nvSpPr>
        <p:spPr>
          <a:xfrm>
            <a:off x="1080800" y="2393156"/>
            <a:ext cx="1381589" cy="208312"/>
          </a:xfrm>
          <a:prstGeom prst="rect">
            <a:avLst/>
          </a:prstGeom>
          <a:noFill/>
          <a:ln/>
        </p:spPr>
        <p:txBody>
          <a:bodyPr wrap="none" lIns="0" tIns="0" rIns="0" bIns="0" rtlCol="0" anchor="t"/>
          <a:lstStyle/>
          <a:p>
            <a:pPr algn="ctr" indent="0" marL="0">
              <a:lnSpc>
                <a:spcPts val="1519"/>
              </a:lnSpc>
              <a:buNone/>
            </a:pPr>
            <a:r>
              <a:rPr lang="en-US" sz="1013" dirty="0">
                <a:solidFill>
                  <a:srgbClr val="FFFFFF"/>
                </a:solidFill>
                <a:latin typeface="Carlito" pitchFamily="34" charset="0"/>
                <a:ea typeface="Carlito" pitchFamily="34" charset="-122"/>
                <a:cs typeface="Carlito" pitchFamily="34" charset="-120"/>
              </a:rPr>
              <a:t>Integrated Modules</a:t>
            </a:r>
            <a:endParaRPr lang="en-US" sz="1013" dirty="0"/>
          </a:p>
        </p:txBody>
      </p:sp>
      <p:sp>
        <p:nvSpPr>
          <p:cNvPr id="10" name="Text 8"/>
          <p:cNvSpPr/>
          <p:nvPr/>
        </p:nvSpPr>
        <p:spPr>
          <a:xfrm>
            <a:off x="635794" y="2628900"/>
            <a:ext cx="2271713" cy="329184"/>
          </a:xfrm>
          <a:prstGeom prst="rect">
            <a:avLst/>
          </a:prstGeom>
          <a:noFill/>
          <a:ln/>
        </p:spPr>
        <p:txBody>
          <a:bodyPr wrap="square" lIns="0" tIns="0" rIns="0" bIns="0" rtlCol="0" anchor="t"/>
          <a:lstStyle/>
          <a:p>
            <a:pPr algn="ctr" indent="0" marL="0">
              <a:lnSpc>
                <a:spcPts val="1181"/>
              </a:lnSpc>
              <a:buNone/>
            </a:pPr>
            <a:r>
              <a:rPr lang="en-US" sz="800" dirty="0">
                <a:solidFill>
                  <a:srgbClr val="FFFFFF">
                    <a:alpha val="40000"/>
                  </a:srgbClr>
                </a:solidFill>
                <a:latin typeface="Carlito" pitchFamily="34" charset="0"/>
                <a:ea typeface="Carlito" pitchFamily="34" charset="-122"/>
                <a:cs typeface="Carlito" pitchFamily="34" charset="-120"/>
              </a:rPr>
              <a:t>AI, Analytics, Care Coordination, Credentialing, Education</a:t>
            </a:r>
            <a:endParaRPr lang="en-US" sz="800" dirty="0"/>
          </a:p>
        </p:txBody>
      </p:sp>
      <p:sp>
        <p:nvSpPr>
          <p:cNvPr id="11" name="Text 9"/>
          <p:cNvSpPr/>
          <p:nvPr/>
        </p:nvSpPr>
        <p:spPr>
          <a:xfrm>
            <a:off x="3261122" y="1732359"/>
            <a:ext cx="2621756" cy="1550194"/>
          </a:xfrm>
          <a:prstGeom prst="roundRect">
            <a:avLst>
              <a:gd name="adj" fmla="val 737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4029075" y="1935956"/>
            <a:ext cx="1085850" cy="429768"/>
          </a:xfrm>
          <a:prstGeom prst="rect">
            <a:avLst/>
          </a:prstGeom>
          <a:noFill/>
          <a:ln/>
        </p:spPr>
        <p:txBody>
          <a:bodyPr wrap="none" lIns="0" tIns="0" rIns="0" bIns="0" rtlCol="0" anchor="t">
            <a:normAutofit/>
          </a:bodyPr>
          <a:lstStyle/>
          <a:p>
            <a:pPr algn="ctr" indent="0" marL="0">
              <a:lnSpc>
                <a:spcPts val="3150"/>
              </a:lnSpc>
              <a:buNone/>
            </a:pPr>
            <a:r>
              <a:rPr lang="en-US" sz="3150" b="1" dirty="0">
                <a:solidFill>
                  <a:srgbClr val="00C9A7"/>
                </a:solidFill>
                <a:latin typeface="Liberation Sans Narrow" pitchFamily="34" charset="0"/>
                <a:ea typeface="Liberation Sans Narrow" pitchFamily="34" charset="-122"/>
                <a:cs typeface="Liberation Sans Narrow" pitchFamily="34" charset="-120"/>
              </a:rPr>
              <a:t>42+</a:t>
            </a:r>
            <a:endParaRPr lang="en-US" sz="3150" dirty="0"/>
          </a:p>
        </p:txBody>
      </p:sp>
      <p:sp>
        <p:nvSpPr>
          <p:cNvPr id="13" name="Text 11"/>
          <p:cNvSpPr/>
          <p:nvPr/>
        </p:nvSpPr>
        <p:spPr>
          <a:xfrm>
            <a:off x="3956361" y="2393156"/>
            <a:ext cx="1231277" cy="208312"/>
          </a:xfrm>
          <a:prstGeom prst="rect">
            <a:avLst/>
          </a:prstGeom>
          <a:noFill/>
          <a:ln/>
        </p:spPr>
        <p:txBody>
          <a:bodyPr wrap="none" lIns="0" tIns="0" rIns="0" bIns="0" rtlCol="0" anchor="t"/>
          <a:lstStyle/>
          <a:p>
            <a:pPr algn="ctr" indent="0" marL="0">
              <a:lnSpc>
                <a:spcPts val="1519"/>
              </a:lnSpc>
              <a:buNone/>
            </a:pPr>
            <a:r>
              <a:rPr lang="en-US" sz="1013" dirty="0">
                <a:solidFill>
                  <a:srgbClr val="FFFFFF"/>
                </a:solidFill>
                <a:latin typeface="Carlito" pitchFamily="34" charset="0"/>
                <a:ea typeface="Carlito" pitchFamily="34" charset="-122"/>
                <a:cs typeface="Carlito" pitchFamily="34" charset="-120"/>
              </a:rPr>
              <a:t>Database Models</a:t>
            </a:r>
            <a:endParaRPr lang="en-US" sz="1013" dirty="0"/>
          </a:p>
        </p:txBody>
      </p:sp>
      <p:sp>
        <p:nvSpPr>
          <p:cNvPr id="14" name="Text 12"/>
          <p:cNvSpPr/>
          <p:nvPr/>
        </p:nvSpPr>
        <p:spPr>
          <a:xfrm>
            <a:off x="3436144" y="2628900"/>
            <a:ext cx="2271713" cy="450056"/>
          </a:xfrm>
          <a:prstGeom prst="rect">
            <a:avLst/>
          </a:prstGeom>
          <a:noFill/>
          <a:ln/>
        </p:spPr>
        <p:txBody>
          <a:bodyPr wrap="square" lIns="0" tIns="0" rIns="0" bIns="0" rtlCol="0" anchor="t"/>
          <a:lstStyle/>
          <a:p>
            <a:pPr algn="ctr" indent="0" marL="0">
              <a:lnSpc>
                <a:spcPts val="1181"/>
              </a:lnSpc>
              <a:buNone/>
            </a:pPr>
            <a:r>
              <a:rPr lang="en-US" sz="800" dirty="0">
                <a:solidFill>
                  <a:srgbClr val="FFFFFF">
                    <a:alpha val="40000"/>
                  </a:srgbClr>
                </a:solidFill>
                <a:latin typeface="Carlito" pitchFamily="34" charset="0"/>
                <a:ea typeface="Carlito" pitchFamily="34" charset="-122"/>
                <a:cs typeface="Carlito" pitchFamily="34" charset="-120"/>
              </a:rPr>
              <a:t>Comprehensive healthcare data architecture covering clinical, administrative, and educational workflows</a:t>
            </a:r>
            <a:endParaRPr lang="en-US" sz="800" dirty="0"/>
          </a:p>
        </p:txBody>
      </p:sp>
      <p:sp>
        <p:nvSpPr>
          <p:cNvPr id="15" name="Text 13"/>
          <p:cNvSpPr/>
          <p:nvPr/>
        </p:nvSpPr>
        <p:spPr>
          <a:xfrm>
            <a:off x="6061472" y="1732359"/>
            <a:ext cx="2621756" cy="1550194"/>
          </a:xfrm>
          <a:prstGeom prst="roundRect">
            <a:avLst>
              <a:gd name="adj" fmla="val 7373"/>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16" name="Text 14"/>
          <p:cNvSpPr/>
          <p:nvPr/>
        </p:nvSpPr>
        <p:spPr>
          <a:xfrm>
            <a:off x="7194292" y="1935956"/>
            <a:ext cx="356116" cy="429768"/>
          </a:xfrm>
          <a:prstGeom prst="rect">
            <a:avLst/>
          </a:prstGeom>
          <a:noFill/>
          <a:ln/>
        </p:spPr>
        <p:txBody>
          <a:bodyPr wrap="none" lIns="0" tIns="0" rIns="0" bIns="0" rtlCol="0" anchor="t">
            <a:normAutofit/>
          </a:bodyPr>
          <a:lstStyle/>
          <a:p>
            <a:pPr algn="ctr" indent="0" marL="0">
              <a:lnSpc>
                <a:spcPts val="3150"/>
              </a:lnSpc>
              <a:buNone/>
            </a:pPr>
            <a:r>
              <a:rPr lang="en-US" sz="3150" b="1" dirty="0">
                <a:solidFill>
                  <a:srgbClr val="00C9A7"/>
                </a:solidFill>
                <a:latin typeface="Liberation Sans Narrow" pitchFamily="34" charset="0"/>
                <a:ea typeface="Liberation Sans Narrow" pitchFamily="34" charset="-122"/>
                <a:cs typeface="Liberation Sans Narrow" pitchFamily="34" charset="-120"/>
              </a:rPr>
              <a:t>1</a:t>
            </a:r>
            <a:endParaRPr lang="en-US" sz="3150" dirty="0"/>
          </a:p>
        </p:txBody>
      </p:sp>
      <p:sp>
        <p:nvSpPr>
          <p:cNvPr id="17" name="Text 15"/>
          <p:cNvSpPr/>
          <p:nvPr/>
        </p:nvSpPr>
        <p:spPr>
          <a:xfrm>
            <a:off x="7065899" y="2393156"/>
            <a:ext cx="612791" cy="208312"/>
          </a:xfrm>
          <a:prstGeom prst="rect">
            <a:avLst/>
          </a:prstGeom>
          <a:noFill/>
          <a:ln/>
        </p:spPr>
        <p:txBody>
          <a:bodyPr wrap="none" lIns="0" tIns="0" rIns="0" bIns="0" rtlCol="0" anchor="t"/>
          <a:lstStyle/>
          <a:p>
            <a:pPr algn="ctr" indent="0" marL="0">
              <a:lnSpc>
                <a:spcPts val="1519"/>
              </a:lnSpc>
              <a:buNone/>
            </a:pPr>
            <a:r>
              <a:rPr lang="en-US" sz="1013" dirty="0">
                <a:solidFill>
                  <a:srgbClr val="FFFFFF"/>
                </a:solidFill>
                <a:latin typeface="Carlito" pitchFamily="34" charset="0"/>
                <a:ea typeface="Carlito" pitchFamily="34" charset="-122"/>
                <a:cs typeface="Carlito" pitchFamily="34" charset="-120"/>
              </a:rPr>
              <a:t>Mission</a:t>
            </a:r>
            <a:endParaRPr lang="en-US" sz="1013" dirty="0"/>
          </a:p>
        </p:txBody>
      </p:sp>
      <p:sp>
        <p:nvSpPr>
          <p:cNvPr id="18" name="Text 16"/>
          <p:cNvSpPr/>
          <p:nvPr/>
        </p:nvSpPr>
        <p:spPr>
          <a:xfrm>
            <a:off x="6261479" y="2628900"/>
            <a:ext cx="2221630" cy="164592"/>
          </a:xfrm>
          <a:prstGeom prst="rect">
            <a:avLst/>
          </a:prstGeom>
          <a:noFill/>
          <a:ln/>
        </p:spPr>
        <p:txBody>
          <a:bodyPr wrap="square" lIns="0" tIns="0" rIns="0" bIns="0" rtlCol="0" anchor="t"/>
          <a:lstStyle/>
          <a:p>
            <a:pPr algn="ctr" indent="0" marL="0">
              <a:lnSpc>
                <a:spcPts val="1181"/>
              </a:lnSpc>
              <a:buNone/>
            </a:pPr>
            <a:r>
              <a:rPr lang="en-US" sz="800" dirty="0">
                <a:solidFill>
                  <a:srgbClr val="FFFFFF">
                    <a:alpha val="40000"/>
                  </a:srgbClr>
                </a:solidFill>
                <a:latin typeface="Carlito" pitchFamily="34" charset="0"/>
                <a:ea typeface="Carlito" pitchFamily="34" charset="-122"/>
                <a:cs typeface="Carlito" pitchFamily="34" charset="-120"/>
              </a:rPr>
              <a:t>Empower nurses to lead healthcare innovation</a:t>
            </a:r>
            <a:endParaRPr lang="en-US" sz="800" dirty="0"/>
          </a:p>
        </p:txBody>
      </p:sp>
      <p:sp>
        <p:nvSpPr>
          <p:cNvPr id="19" name="Text 17"/>
          <p:cNvSpPr/>
          <p:nvPr/>
        </p:nvSpPr>
        <p:spPr>
          <a:xfrm>
            <a:off x="460772" y="3518297"/>
            <a:ext cx="3993356" cy="1807369"/>
          </a:xfrm>
          <a:prstGeom prst="roundRect">
            <a:avLst>
              <a:gd name="adj" fmla="val 6324"/>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20" name="Text 18"/>
          <p:cNvSpPr/>
          <p:nvPr/>
        </p:nvSpPr>
        <p:spPr>
          <a:xfrm>
            <a:off x="635794" y="3693319"/>
            <a:ext cx="3643313" cy="231458"/>
          </a:xfrm>
          <a:prstGeom prst="rect">
            <a:avLst/>
          </a:prstGeom>
          <a:noFill/>
          <a:ln/>
        </p:spPr>
        <p:txBody>
          <a:bodyPr wrap="none" lIns="0" tIns="0" rIns="0" bIns="0" rtlCol="0" anchor="t"/>
          <a:lstStyle/>
          <a:p>
            <a:pPr algn="l" indent="0" marL="0">
              <a:lnSpc>
                <a:spcPts val="1688"/>
              </a:lnSpc>
              <a:buNone/>
            </a:pPr>
            <a:r>
              <a:rPr lang="en-US" sz="1125" dirty="0">
                <a:solidFill>
                  <a:srgbClr val="FFFFFF"/>
                </a:solidFill>
                <a:latin typeface="Tinos" pitchFamily="34" charset="0"/>
                <a:ea typeface="Tinos" pitchFamily="34" charset="-122"/>
                <a:cs typeface="Tinos" pitchFamily="34" charset="-120"/>
              </a:rPr>
              <a:t>What Makes Us Different</a:t>
            </a:r>
            <a:endParaRPr lang="en-US" sz="1125" dirty="0"/>
          </a:p>
        </p:txBody>
      </p:sp>
      <p:sp>
        <p:nvSpPr>
          <p:cNvPr id="21" name="Text 19"/>
          <p:cNvSpPr/>
          <p:nvPr/>
        </p:nvSpPr>
        <p:spPr>
          <a:xfrm>
            <a:off x="635794" y="4050506"/>
            <a:ext cx="786147"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1507666" y="4036219"/>
            <a:ext cx="2771440" cy="370332"/>
          </a:xfrm>
          <a:prstGeom prst="rect">
            <a:avLst/>
          </a:prstGeom>
          <a:noFill/>
          <a:ln/>
        </p:spPr>
        <p:txBody>
          <a:bodyPr wrap="square" lIns="0" tIns="0" rIns="0" bIns="0" rtlCol="0" anchor="t"/>
          <a:lstStyle/>
          <a:p>
            <a:pPr algn="l" indent="0" marL="0">
              <a:lnSpc>
                <a:spcPts val="1350"/>
              </a:lnSpc>
              <a:buNone/>
            </a:pPr>
            <a:r>
              <a:rPr lang="en-US" sz="844" dirty="0">
                <a:solidFill>
                  <a:srgbClr val="FFFFFF">
                    <a:alpha val="70000"/>
                  </a:srgbClr>
                </a:solidFill>
                <a:latin typeface="Carlito" pitchFamily="34" charset="0"/>
                <a:ea typeface="Carlito" pitchFamily="34" charset="-122"/>
                <a:cs typeface="Carlito" pitchFamily="34" charset="-120"/>
              </a:rPr>
              <a:t>Built by a nurse with clinical experience, not by a tech company guessing at workflows</a:t>
            </a:r>
            <a:endParaRPr lang="en-US" sz="844" dirty="0"/>
          </a:p>
        </p:txBody>
      </p:sp>
      <p:sp>
        <p:nvSpPr>
          <p:cNvPr id="23" name="Text 21"/>
          <p:cNvSpPr/>
          <p:nvPr/>
        </p:nvSpPr>
        <p:spPr>
          <a:xfrm>
            <a:off x="635794" y="4493419"/>
            <a:ext cx="786147"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24" name="Text 22"/>
          <p:cNvSpPr/>
          <p:nvPr/>
        </p:nvSpPr>
        <p:spPr>
          <a:xfrm>
            <a:off x="1507666" y="4479131"/>
            <a:ext cx="2771440" cy="370332"/>
          </a:xfrm>
          <a:prstGeom prst="rect">
            <a:avLst/>
          </a:prstGeom>
          <a:noFill/>
          <a:ln/>
        </p:spPr>
        <p:txBody>
          <a:bodyPr wrap="square" lIns="0" tIns="0" rIns="0" bIns="0" rtlCol="0" anchor="t"/>
          <a:lstStyle/>
          <a:p>
            <a:pPr algn="l" indent="0" marL="0">
              <a:lnSpc>
                <a:spcPts val="1350"/>
              </a:lnSpc>
              <a:buNone/>
            </a:pPr>
            <a:r>
              <a:rPr lang="en-US" sz="844" dirty="0">
                <a:solidFill>
                  <a:srgbClr val="FFFFFF">
                    <a:alpha val="70000"/>
                  </a:srgbClr>
                </a:solidFill>
                <a:latin typeface="Carlito" pitchFamily="34" charset="0"/>
                <a:ea typeface="Carlito" pitchFamily="34" charset="-122"/>
                <a:cs typeface="Carlito" pitchFamily="34" charset="-120"/>
              </a:rPr>
              <a:t>AI integrated into clinical decision-making, not bolted on as an afterthought</a:t>
            </a:r>
            <a:endParaRPr lang="en-US" sz="844" dirty="0"/>
          </a:p>
        </p:txBody>
      </p:sp>
      <p:sp>
        <p:nvSpPr>
          <p:cNvPr id="25" name="Text 23"/>
          <p:cNvSpPr/>
          <p:nvPr/>
        </p:nvSpPr>
        <p:spPr>
          <a:xfrm>
            <a:off x="635794" y="4936331"/>
            <a:ext cx="786147" cy="207169"/>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26" name="Text 24"/>
          <p:cNvSpPr/>
          <p:nvPr/>
        </p:nvSpPr>
        <p:spPr>
          <a:xfrm>
            <a:off x="1507666" y="4922044"/>
            <a:ext cx="2771440" cy="185166"/>
          </a:xfrm>
          <a:prstGeom prst="rect">
            <a:avLst/>
          </a:prstGeom>
          <a:noFill/>
          <a:ln/>
        </p:spPr>
        <p:txBody>
          <a:bodyPr wrap="square" lIns="0" tIns="0" rIns="0" bIns="0" rtlCol="0" anchor="t"/>
          <a:lstStyle/>
          <a:p>
            <a:pPr algn="l" indent="0" marL="0">
              <a:lnSpc>
                <a:spcPts val="1350"/>
              </a:lnSpc>
              <a:buNone/>
            </a:pPr>
            <a:r>
              <a:rPr lang="en-US" sz="844" dirty="0">
                <a:solidFill>
                  <a:srgbClr val="FFFFFF">
                    <a:alpha val="70000"/>
                  </a:srgbClr>
                </a:solidFill>
                <a:latin typeface="Carlito" pitchFamily="34" charset="0"/>
                <a:ea typeface="Carlito" pitchFamily="34" charset="-122"/>
                <a:cs typeface="Carlito" pitchFamily="34" charset="-120"/>
              </a:rPr>
              <a:t>Single platform replacing fragmented point solutions</a:t>
            </a:r>
            <a:endParaRPr lang="en-US" sz="844" dirty="0"/>
          </a:p>
        </p:txBody>
      </p:sp>
      <p:sp>
        <p:nvSpPr>
          <p:cNvPr id="27" name="Text 25"/>
          <p:cNvSpPr/>
          <p:nvPr/>
        </p:nvSpPr>
        <p:spPr>
          <a:xfrm>
            <a:off x="4689872" y="3518297"/>
            <a:ext cx="3993356" cy="1807369"/>
          </a:xfrm>
          <a:prstGeom prst="roundRect">
            <a:avLst>
              <a:gd name="adj" fmla="val 6324"/>
            </a:avLst>
          </a:prstGeom>
          <a:solidFill>
            <a:srgbClr val="111D33"/>
          </a:solidFill>
          <a:ln w="7144">
            <a:solidFill>
              <a:srgbClr val="FFFFFF"/>
            </a:solidFill>
            <a:prstDash val="solid"/>
          </a:ln>
        </p:spPr>
        <p:txBody>
          <a:bodyPr wrap="square" rtlCol="0" anchor="ctr"/>
          <a:lstStyle/>
          <a:p>
            <a:pPr indent="0" marL="0">
              <a:buNone/>
            </a:pPr>
            <a:endParaRPr lang="en-US" dirty="0"/>
          </a:p>
        </p:txBody>
      </p:sp>
      <p:sp>
        <p:nvSpPr>
          <p:cNvPr id="28" name="Text 26"/>
          <p:cNvSpPr/>
          <p:nvPr/>
        </p:nvSpPr>
        <p:spPr>
          <a:xfrm>
            <a:off x="4864894" y="3693319"/>
            <a:ext cx="3643313" cy="231458"/>
          </a:xfrm>
          <a:prstGeom prst="rect">
            <a:avLst/>
          </a:prstGeom>
          <a:noFill/>
          <a:ln/>
        </p:spPr>
        <p:txBody>
          <a:bodyPr wrap="none" lIns="0" tIns="0" rIns="0" bIns="0" rtlCol="0" anchor="t"/>
          <a:lstStyle/>
          <a:p>
            <a:pPr algn="l" indent="0" marL="0">
              <a:lnSpc>
                <a:spcPts val="1688"/>
              </a:lnSpc>
              <a:buNone/>
            </a:pPr>
            <a:r>
              <a:rPr lang="en-US" sz="1125" dirty="0">
                <a:solidFill>
                  <a:srgbClr val="FFFFFF"/>
                </a:solidFill>
                <a:latin typeface="Tinos" pitchFamily="34" charset="0"/>
                <a:ea typeface="Tinos" pitchFamily="34" charset="-122"/>
                <a:cs typeface="Tinos" pitchFamily="34" charset="-120"/>
              </a:rPr>
              <a:t>Recognition</a:t>
            </a:r>
            <a:endParaRPr lang="en-US" sz="1125" dirty="0"/>
          </a:p>
        </p:txBody>
      </p:sp>
      <p:sp>
        <p:nvSpPr>
          <p:cNvPr id="29" name="Text 27"/>
          <p:cNvSpPr/>
          <p:nvPr/>
        </p:nvSpPr>
        <p:spPr>
          <a:xfrm>
            <a:off x="4864894" y="4050506"/>
            <a:ext cx="238199"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30" name="Text 28"/>
          <p:cNvSpPr/>
          <p:nvPr/>
        </p:nvSpPr>
        <p:spPr>
          <a:xfrm>
            <a:off x="5188818" y="4036219"/>
            <a:ext cx="3319388" cy="185166"/>
          </a:xfrm>
          <a:prstGeom prst="rect">
            <a:avLst/>
          </a:prstGeom>
          <a:noFill/>
          <a:ln/>
        </p:spPr>
        <p:txBody>
          <a:bodyPr wrap="square" lIns="0" tIns="0" rIns="0" bIns="0" rtlCol="0" anchor="t"/>
          <a:lstStyle/>
          <a:p>
            <a:pPr algn="l" indent="0" marL="0">
              <a:lnSpc>
                <a:spcPts val="1350"/>
              </a:lnSpc>
              <a:buNone/>
            </a:pPr>
            <a:r>
              <a:rPr lang="en-US" sz="844" dirty="0">
                <a:solidFill>
                  <a:srgbClr val="FFFFFF">
                    <a:alpha val="70000"/>
                  </a:srgbClr>
                </a:solidFill>
                <a:latin typeface="Carlito" pitchFamily="34" charset="0"/>
                <a:ea typeface="Carlito" pitchFamily="34" charset="-122"/>
                <a:cs typeface="Carlito" pitchFamily="34" charset="-120"/>
              </a:rPr>
              <a:t>Selected for Next Nurse Reality Docuseries</a:t>
            </a:r>
            <a:endParaRPr lang="en-US" sz="844" dirty="0"/>
          </a:p>
        </p:txBody>
      </p:sp>
      <p:sp>
        <p:nvSpPr>
          <p:cNvPr id="31" name="Text 29"/>
          <p:cNvSpPr/>
          <p:nvPr/>
        </p:nvSpPr>
        <p:spPr>
          <a:xfrm>
            <a:off x="4864894" y="4379119"/>
            <a:ext cx="238199"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32" name="Text 30"/>
          <p:cNvSpPr/>
          <p:nvPr/>
        </p:nvSpPr>
        <p:spPr>
          <a:xfrm>
            <a:off x="5188818" y="4364831"/>
            <a:ext cx="3319388" cy="185166"/>
          </a:xfrm>
          <a:prstGeom prst="rect">
            <a:avLst/>
          </a:prstGeom>
          <a:noFill/>
          <a:ln/>
        </p:spPr>
        <p:txBody>
          <a:bodyPr wrap="square" lIns="0" tIns="0" rIns="0" bIns="0" rtlCol="0" anchor="t"/>
          <a:lstStyle/>
          <a:p>
            <a:pPr algn="l" indent="0" marL="0">
              <a:lnSpc>
                <a:spcPts val="1350"/>
              </a:lnSpc>
              <a:buNone/>
            </a:pPr>
            <a:r>
              <a:rPr lang="en-US" sz="844" dirty="0">
                <a:solidFill>
                  <a:srgbClr val="FFFFFF">
                    <a:alpha val="70000"/>
                  </a:srgbClr>
                </a:solidFill>
                <a:latin typeface="Carlito" pitchFamily="34" charset="0"/>
                <a:ea typeface="Carlito" pitchFamily="34" charset="-122"/>
                <a:cs typeface="Carlito" pitchFamily="34" charset="-120"/>
              </a:rPr>
              <a:t>Growing community of healthcare innovators</a:t>
            </a:r>
            <a:endParaRPr lang="en-US" sz="844" dirty="0"/>
          </a:p>
        </p:txBody>
      </p:sp>
      <p:sp>
        <p:nvSpPr>
          <p:cNvPr id="33" name="Text 31"/>
          <p:cNvSpPr/>
          <p:nvPr/>
        </p:nvSpPr>
        <p:spPr>
          <a:xfrm>
            <a:off x="4864894" y="4707731"/>
            <a:ext cx="238199"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34" name="Text 32"/>
          <p:cNvSpPr/>
          <p:nvPr/>
        </p:nvSpPr>
        <p:spPr>
          <a:xfrm>
            <a:off x="5188818" y="4693444"/>
            <a:ext cx="3319388" cy="185166"/>
          </a:xfrm>
          <a:prstGeom prst="rect">
            <a:avLst/>
          </a:prstGeom>
          <a:noFill/>
          <a:ln/>
        </p:spPr>
        <p:txBody>
          <a:bodyPr wrap="square" lIns="0" tIns="0" rIns="0" bIns="0" rtlCol="0" anchor="t"/>
          <a:lstStyle/>
          <a:p>
            <a:pPr algn="l" indent="0" marL="0">
              <a:lnSpc>
                <a:spcPts val="1350"/>
              </a:lnSpc>
              <a:buNone/>
            </a:pPr>
            <a:r>
              <a:rPr lang="en-US" sz="844" dirty="0">
                <a:solidFill>
                  <a:srgbClr val="FFFFFF">
                    <a:alpha val="70000"/>
                  </a:srgbClr>
                </a:solidFill>
                <a:latin typeface="Carlito" pitchFamily="34" charset="0"/>
                <a:ea typeface="Carlito" pitchFamily="34" charset="-122"/>
                <a:cs typeface="Carlito" pitchFamily="34" charset="-120"/>
              </a:rPr>
              <a:t>Nigeria-first with global scalability built in</a:t>
            </a:r>
            <a:endParaRPr lang="en-US" sz="84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428875" y="428625"/>
            <a:ext cx="4286250" cy="4286250"/>
          </a:xfrm>
          <a:prstGeom prst="ellipse">
            <a:avLst/>
          </a:prstGeom>
          <a:solidFill>
            <a:srgbClr val="00C9A7">
              <a:alpha val="2000"/>
            </a:srgbClr>
          </a:solidFill>
          <a:ln/>
        </p:spPr>
        <p:txBody>
          <a:bodyPr wrap="square" rtlCol="0" anchor="ctr"/>
          <a:lstStyle/>
          <a:p>
            <a:pPr indent="0" marL="0">
              <a:buNone/>
            </a:pPr>
            <a:endParaRPr lang="en-US" dirty="0"/>
          </a:p>
        </p:txBody>
      </p:sp>
      <p:sp>
        <p:nvSpPr>
          <p:cNvPr id="3" name="Text 1"/>
          <p:cNvSpPr/>
          <p:nvPr/>
        </p:nvSpPr>
        <p:spPr>
          <a:xfrm>
            <a:off x="274320" y="1194122"/>
            <a:ext cx="8595248" cy="518368"/>
          </a:xfrm>
          <a:prstGeom prst="rect">
            <a:avLst/>
          </a:prstGeom>
          <a:noFill/>
          <a:ln/>
        </p:spPr>
        <p:txBody>
          <a:bodyPr wrap="square" lIns="0" tIns="0" rIns="0" bIns="0" rtlCol="0" anchor="t"/>
          <a:lstStyle/>
          <a:p>
            <a:pPr algn="ctr" indent="0" marL="0">
              <a:lnSpc>
                <a:spcPts val="3780"/>
              </a:lnSpc>
              <a:buNone/>
            </a:pPr>
            <a:r>
              <a:rPr lang="en-US" sz="3150" b="1" dirty="0">
                <a:solidFill>
                  <a:srgbClr val="FFFFFF"/>
                </a:solidFill>
                <a:latin typeface="Tinos" pitchFamily="34" charset="0"/>
                <a:ea typeface="Tinos" pitchFamily="34" charset="-122"/>
                <a:cs typeface="Tinos" pitchFamily="34" charset="-120"/>
              </a:rPr>
              <a:t>Nursing is Beyond the Bedside.</a:t>
            </a:r>
            <a:endParaRPr lang="en-US" sz="3150" dirty="0"/>
          </a:p>
        </p:txBody>
      </p:sp>
      <p:sp>
        <p:nvSpPr>
          <p:cNvPr id="4" name="Text 2"/>
          <p:cNvSpPr/>
          <p:nvPr/>
        </p:nvSpPr>
        <p:spPr>
          <a:xfrm>
            <a:off x="3784639" y="1902693"/>
            <a:ext cx="1574611" cy="236887"/>
          </a:xfrm>
          <a:prstGeom prst="rect">
            <a:avLst/>
          </a:prstGeom>
          <a:noFill/>
          <a:ln/>
        </p:spPr>
        <p:txBody>
          <a:bodyPr wrap="none" lIns="0" tIns="0" rIns="0" bIns="0" rtlCol="0" anchor="t">
            <a:normAutofit/>
          </a:bodyPr>
          <a:lstStyle/>
          <a:p>
            <a:pPr algn="ctr" indent="0" marL="0">
              <a:lnSpc>
                <a:spcPts val="1856"/>
              </a:lnSpc>
              <a:buNone/>
            </a:pPr>
            <a:r>
              <a:rPr lang="en-US" sz="1238" dirty="0">
                <a:solidFill>
                  <a:srgbClr val="FFFFFF">
                    <a:alpha val="70000"/>
                  </a:srgbClr>
                </a:solidFill>
                <a:latin typeface="Carlito" pitchFamily="34" charset="0"/>
                <a:ea typeface="Carlito" pitchFamily="34" charset="-122"/>
                <a:cs typeface="Carlito" pitchFamily="34" charset="-120"/>
              </a:rPr>
              <a:t>Wabi The Tech Nurse</a:t>
            </a:r>
            <a:endParaRPr lang="en-US" sz="1238" dirty="0"/>
          </a:p>
        </p:txBody>
      </p:sp>
      <p:sp>
        <p:nvSpPr>
          <p:cNvPr id="5" name="Text 3"/>
          <p:cNvSpPr/>
          <p:nvPr/>
        </p:nvSpPr>
        <p:spPr>
          <a:xfrm>
            <a:off x="4013418" y="2167012"/>
            <a:ext cx="1116940" cy="185166"/>
          </a:xfrm>
          <a:prstGeom prst="rect">
            <a:avLst/>
          </a:prstGeom>
          <a:noFill/>
          <a:ln/>
        </p:spPr>
        <p:txBody>
          <a:bodyPr wrap="none" lIns="0" tIns="0" rIns="0" bIns="0" rtlCol="0" anchor="t"/>
          <a:lstStyle/>
          <a:p>
            <a:pPr algn="ctr" indent="0" marL="0">
              <a:lnSpc>
                <a:spcPts val="1350"/>
              </a:lnSpc>
              <a:buNone/>
            </a:pPr>
            <a:r>
              <a:rPr lang="en-US" sz="900" dirty="0">
                <a:solidFill>
                  <a:srgbClr val="FFFFFF">
                    <a:alpha val="40000"/>
                  </a:srgbClr>
                </a:solidFill>
                <a:latin typeface="Carlito" pitchFamily="34" charset="0"/>
                <a:ea typeface="Carlito" pitchFamily="34" charset="-122"/>
                <a:cs typeface="Carlito" pitchFamily="34" charset="-120"/>
              </a:rPr>
              <a:t>Founder, NurseOS</a:t>
            </a:r>
            <a:endParaRPr lang="en-US" sz="900" dirty="0"/>
          </a:p>
        </p:txBody>
      </p:sp>
      <p:sp>
        <p:nvSpPr>
          <p:cNvPr id="6" name="Text 4"/>
          <p:cNvSpPr/>
          <p:nvPr/>
        </p:nvSpPr>
        <p:spPr>
          <a:xfrm>
            <a:off x="4400438" y="2595637"/>
            <a:ext cx="342900" cy="21431"/>
          </a:xfrm>
          <a:prstGeom prst="roundRect">
            <a:avLst>
              <a:gd name="adj" fmla="val 88890"/>
            </a:avLst>
          </a:prstGeom>
          <a:solidFill>
            <a:srgbClr val="00C9A7"/>
          </a:solidFill>
          <a:ln/>
        </p:spPr>
        <p:txBody>
          <a:bodyPr wrap="square" rtlCol="0" anchor="ctr"/>
          <a:lstStyle/>
          <a:p>
            <a:pPr indent="0" marL="0">
              <a:buNone/>
            </a:pPr>
            <a:endParaRPr lang="en-US" dirty="0"/>
          </a:p>
        </p:txBody>
      </p:sp>
      <p:sp>
        <p:nvSpPr>
          <p:cNvPr id="7" name="Text 5"/>
          <p:cNvSpPr/>
          <p:nvPr/>
        </p:nvSpPr>
        <p:spPr>
          <a:xfrm>
            <a:off x="3712629" y="2874243"/>
            <a:ext cx="588020"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8" name="Text 6"/>
          <p:cNvSpPr/>
          <p:nvPr/>
        </p:nvSpPr>
        <p:spPr>
          <a:xfrm>
            <a:off x="4265491" y="2890317"/>
            <a:ext cx="1257964" cy="196739"/>
          </a:xfrm>
          <a:prstGeom prst="rect">
            <a:avLst/>
          </a:prstGeom>
          <a:noFill/>
          <a:ln/>
        </p:spPr>
        <p:txBody>
          <a:bodyPr wrap="none" lIns="0" tIns="0" rIns="0" bIns="0" rtlCol="0" anchor="t"/>
          <a:lstStyle/>
          <a:p>
            <a:pPr algn="ctr" indent="0" marL="0">
              <a:lnSpc>
                <a:spcPts val="1434"/>
              </a:lnSpc>
              <a:buNone/>
            </a:pPr>
            <a:r>
              <a:rPr lang="en-US" sz="956" dirty="0">
                <a:solidFill>
                  <a:srgbClr val="FFFFFF"/>
                </a:solidFill>
                <a:latin typeface="Carlito" pitchFamily="34" charset="0"/>
                <a:ea typeface="Carlito" pitchFamily="34" charset="-122"/>
                <a:cs typeface="Carlito" pitchFamily="34" charset="-120"/>
              </a:rPr>
              <a:t>www.nurseos.digital</a:t>
            </a:r>
            <a:endParaRPr lang="en-US" sz="956" dirty="0"/>
          </a:p>
        </p:txBody>
      </p:sp>
      <p:sp>
        <p:nvSpPr>
          <p:cNvPr id="9" name="Text 7"/>
          <p:cNvSpPr/>
          <p:nvPr/>
        </p:nvSpPr>
        <p:spPr>
          <a:xfrm>
            <a:off x="3483471" y="3159993"/>
            <a:ext cx="976908" cy="214313"/>
          </a:xfrm>
          <a:prstGeom prst="rect">
            <a:avLst/>
          </a:prstGeom>
          <a:noFill/>
          <a:ln/>
        </p:spPr>
        <p:txBody>
          <a:bodyPr wrap="none" lIns="0" tIns="0" rIns="0" bIns="0" rtlCol="0" anchor="ctr"/>
          <a:lstStyle/>
          <a:p>
            <a:pPr algn="ctr" indent="0" marL="0">
              <a:buNone/>
            </a:pPr>
            <a:r>
              <a:rPr lang="en-US" sz="1406" dirty="0">
                <a:solidFill>
                  <a:srgbClr val="00C9A7"/>
                </a:solidFill>
                <a:latin typeface="Segoe UI Symbol" pitchFamily="34" charset="0"/>
                <a:ea typeface="Segoe UI Symbol" pitchFamily="34" charset="-122"/>
                <a:cs typeface="Segoe UI Symbol" pitchFamily="34" charset="-120"/>
              </a:rPr>
              <a:t>✉</a:t>
            </a:r>
            <a:endParaRPr lang="en-US" sz="1406" dirty="0"/>
          </a:p>
        </p:txBody>
      </p:sp>
      <p:sp>
        <p:nvSpPr>
          <p:cNvPr id="10" name="Text 8"/>
          <p:cNvSpPr/>
          <p:nvPr/>
        </p:nvSpPr>
        <p:spPr>
          <a:xfrm>
            <a:off x="4419250" y="3176067"/>
            <a:ext cx="1339334" cy="196739"/>
          </a:xfrm>
          <a:prstGeom prst="rect">
            <a:avLst/>
          </a:prstGeom>
          <a:noFill/>
          <a:ln/>
        </p:spPr>
        <p:txBody>
          <a:bodyPr wrap="none" lIns="0" tIns="0" rIns="0" bIns="0" rtlCol="0" anchor="t"/>
          <a:lstStyle/>
          <a:p>
            <a:pPr algn="ctr" indent="0" marL="0">
              <a:lnSpc>
                <a:spcPts val="1434"/>
              </a:lnSpc>
              <a:buNone/>
            </a:pPr>
            <a:r>
              <a:rPr lang="en-US" sz="956" dirty="0">
                <a:solidFill>
                  <a:srgbClr val="FFFFFF"/>
                </a:solidFill>
                <a:latin typeface="Carlito" pitchFamily="34" charset="0"/>
                <a:ea typeface="Carlito" pitchFamily="34" charset="-122"/>
                <a:cs typeface="Carlito" pitchFamily="34" charset="-120"/>
              </a:rPr>
              <a:t>@wabi_thetechnurse</a:t>
            </a:r>
            <a:endParaRPr lang="en-US" sz="956" dirty="0"/>
          </a:p>
        </p:txBody>
      </p:sp>
      <p:sp>
        <p:nvSpPr>
          <p:cNvPr id="11" name="Text 9"/>
          <p:cNvSpPr/>
          <p:nvPr/>
        </p:nvSpPr>
        <p:spPr>
          <a:xfrm>
            <a:off x="3669767" y="3663628"/>
            <a:ext cx="1804243" cy="282178"/>
          </a:xfrm>
          <a:prstGeom prst="roundRect">
            <a:avLst>
              <a:gd name="adj" fmla="val 3372153"/>
            </a:avLst>
          </a:prstGeom>
          <a:solidFill>
            <a:srgbClr val="00C9A7">
              <a:alpha val="15000"/>
            </a:srgbClr>
          </a:solidFill>
          <a:ln w="7144">
            <a:solidFill>
              <a:srgbClr val="00C9A7"/>
            </a:solidFill>
            <a:prstDash val="solid"/>
          </a:ln>
        </p:spPr>
        <p:txBody>
          <a:bodyPr wrap="square" rtlCol="0" anchor="ctr"/>
          <a:lstStyle/>
          <a:p>
            <a:pPr indent="0" marL="0">
              <a:buNone/>
            </a:pPr>
            <a:endParaRPr lang="en-US" dirty="0"/>
          </a:p>
        </p:txBody>
      </p:sp>
      <p:sp>
        <p:nvSpPr>
          <p:cNvPr id="12" name="Text 10"/>
          <p:cNvSpPr/>
          <p:nvPr/>
        </p:nvSpPr>
        <p:spPr>
          <a:xfrm>
            <a:off x="3666195" y="3660056"/>
            <a:ext cx="1811387" cy="312468"/>
          </a:xfrm>
          <a:prstGeom prst="rect">
            <a:avLst/>
          </a:prstGeom>
          <a:noFill/>
          <a:ln/>
        </p:spPr>
        <p:txBody>
          <a:bodyPr wrap="square" lIns="171450" tIns="57150" rIns="171450" bIns="57150" rtlCol="0" anchor="t"/>
          <a:lstStyle/>
          <a:p>
            <a:pPr algn="ctr" indent="0" marL="0">
              <a:lnSpc>
                <a:spcPts val="1266"/>
              </a:lnSpc>
              <a:buNone/>
            </a:pPr>
            <a:r>
              <a:rPr lang="en-US" sz="844" dirty="0">
                <a:solidFill>
                  <a:srgbClr val="00C9A7"/>
                </a:solidFill>
                <a:latin typeface="Carlito" pitchFamily="34" charset="0"/>
                <a:ea typeface="Carlito" pitchFamily="34" charset="-122"/>
                <a:cs typeface="Carlito" pitchFamily="34" charset="-120"/>
              </a:rPr>
              <a:t>Let's Build the Future Together</a:t>
            </a:r>
            <a:endParaRPr lang="en-US" sz="84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2026-06-14T11:10:16Z</dcterms:created>
  <dcterms:modified xsi:type="dcterms:W3CDTF">2026-06-14T11:10:16Z</dcterms:modified>
</cp:coreProperties>
</file>